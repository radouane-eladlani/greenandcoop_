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E18C9DCC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70" r:id="rId11"/>
    <p:sldId id="271" r:id="rId12"/>
    <p:sldId id="263" r:id="rId13"/>
    <p:sldId id="269" r:id="rId14"/>
    <p:sldId id="267" r:id="rId15"/>
    <p:sldId id="272" r:id="rId16"/>
    <p:sldId id="273" r:id="rId17"/>
    <p:sldId id="274" r:id="rId18"/>
    <p:sldId id="268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C08529-D999-1C4E-BF18-5E59DEA15F8B}" name="radouane el adlani" initials="ra" userId="dff9e27e495d846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25C76-7176-4DE1-8FA9-304EA3691EDF}" v="1008" dt="2026-02-06T18:01:06.254"/>
    <p1510:client id="{C025BE24-FF15-4D18-84AA-BD316D9D8C5D}" v="74" dt="2026-02-06T19:54:27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00_E18C9D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C64E51-438F-4447-A2F7-8519FDDE49A8}" authorId="{B2C08529-D999-1C4E-BF18-5E59DEA15F8B}" created="2026-02-03T14:11:38.3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84089036" sldId="256"/>
      <ac:spMk id="2" creationId="{00000000-0000-0000-0000-000000000000}"/>
    </ac:deMkLst>
    <p188:txBody>
      <a:bodyPr/>
      <a:lstStyle/>
      <a:p>
        <a:r>
          <a:rPr lang="fr-FR"/>
          <a:t>Bonjour, aujourd’hui je vais vous présenter le projet Forecast 2.0, dont l’objectif est d’améliorer les prévisions de la demande électrique en enrichissant les données météorologiques de GreenAndCoop.​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89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25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6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5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97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11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18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86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E18C9DCC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9F38109-6CA7-491B-A6A4-D2A06300E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21662" y="639097"/>
            <a:ext cx="6466466" cy="3494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3200" err="1">
                <a:ea typeface="+mj-lt"/>
                <a:cs typeface="+mj-lt"/>
              </a:rPr>
              <a:t>Forecast</a:t>
            </a:r>
            <a:r>
              <a:rPr lang="fr-FR" sz="3200" dirty="0">
                <a:ea typeface="+mj-lt"/>
                <a:cs typeface="+mj-lt"/>
              </a:rPr>
              <a:t> 2.0 – Construction et test d’une infrastructure de données météo</a:t>
            </a:r>
            <a:endParaRPr lang="fr-FR" sz="3200" dirty="0">
              <a:ea typeface="Calibri Light"/>
              <a:cs typeface="Calibri Light"/>
            </a:endParaRPr>
          </a:p>
          <a:p>
            <a:endParaRPr lang="fr-FR" sz="500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endParaRPr lang="fr-FR" sz="5000"/>
          </a:p>
          <a:p>
            <a:endParaRPr lang="fr-FR" sz="500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01885" y="4354980"/>
            <a:ext cx="5087894" cy="13105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Data </a:t>
            </a:r>
            <a:r>
              <a:rPr lang="fr-FR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Engineer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– </a:t>
            </a:r>
            <a:r>
              <a:rPr lang="fr-FR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GreenAndCoop</a:t>
            </a:r>
            <a:endParaRPr lang="fr-FR" sz="2000" err="1">
              <a:solidFill>
                <a:schemeClr val="tx1">
                  <a:lumMod val="85000"/>
                  <a:lumOff val="15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8" name="Image 7" descr="Une image contenant Graphique, clipart, graphisme, conception&#10;&#10;Le contenu généré par l’IA peut être incorrect.">
            <a:extLst>
              <a:ext uri="{FF2B5EF4-FFF2-40B4-BE49-F238E27FC236}">
                <a16:creationId xmlns:a16="http://schemas.microsoft.com/office/drawing/2014/main" id="{FB1F1B6A-A2EA-2AAD-ECF4-2CA7FD50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79" b="2"/>
          <a:stretch>
            <a:fillRect/>
          </a:stretch>
        </p:blipFill>
        <p:spPr>
          <a:xfrm>
            <a:off x="303320" y="1059421"/>
            <a:ext cx="5792680" cy="53560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7708C9-4DE8-42DC-8556-86EFA6F0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093E2E4-CE1B-4314-8AD0-0555B7CAC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8D66C-6E87-4017-8A48-ED6A4578A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3DCC8DF5-2D00-4050-57AD-38B936F5897A}"/>
              </a:ext>
            </a:extLst>
          </p:cNvPr>
          <p:cNvSpPr txBox="1">
            <a:spLocks/>
          </p:cNvSpPr>
          <p:nvPr/>
        </p:nvSpPr>
        <p:spPr>
          <a:xfrm>
            <a:off x="9351283" y="5534722"/>
            <a:ext cx="2367875" cy="6608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ea typeface="+mn-lt"/>
                <a:cs typeface="+mn-lt"/>
              </a:rPr>
              <a:t>Radouane el </a:t>
            </a:r>
            <a:r>
              <a:rPr lang="fr-FR" sz="1400" dirty="0" err="1">
                <a:ea typeface="+mn-lt"/>
                <a:cs typeface="+mn-lt"/>
              </a:rPr>
              <a:t>adlani</a:t>
            </a:r>
            <a:endParaRPr lang="fr-FR" sz="1400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49F4B-E000-7542-E850-101C042E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Problématique &amp; objectifs métier</a:t>
            </a:r>
            <a:endParaRPr lang="fr-FR" sz="3200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753ACB-D206-6748-98E7-C52B8AD99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61734"/>
            <a:ext cx="10046305" cy="3346026"/>
          </a:xfrm>
        </p:spPr>
        <p:txBody>
          <a:bodyPr vert="horz" lIns="0" tIns="45720" rIns="0" bIns="45720" rtlCol="0" anchor="t">
            <a:normAutofit fontScale="92500" lnSpcReduction="10000"/>
          </a:bodyPr>
          <a:lstStyle/>
          <a:p>
            <a:endParaRPr lang="fr-FR" dirty="0">
              <a:ea typeface="+mn-lt"/>
              <a:cs typeface="+mn-lt"/>
            </a:endParaRPr>
          </a:p>
          <a:p>
            <a:r>
              <a:rPr lang="fr-FR" dirty="0">
                <a:ea typeface="+mn-lt"/>
                <a:cs typeface="+mn-lt"/>
              </a:rPr>
              <a:t>Pourquoi la météo est critique :</a:t>
            </a:r>
            <a:endParaRPr lang="fr-FR" dirty="0">
              <a:ea typeface="Calibri" panose="020F0502020204030204"/>
              <a:cs typeface="Calibri" panose="020F0502020204030204"/>
            </a:endParaRPr>
          </a:p>
          <a:p>
            <a:pPr marL="383540" lvl="1">
              <a:buSzPct val="100000"/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Équilibrage du réseau</a:t>
            </a:r>
            <a:endParaRPr lang="fr-FR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Optimisation des énergies renouvelables</a:t>
            </a:r>
            <a:endParaRPr lang="fr-FR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Réduction des coûts</a:t>
            </a:r>
            <a:endParaRPr lang="fr-FR" dirty="0">
              <a:ea typeface="Calibri" panose="020F0502020204030204"/>
              <a:cs typeface="Calibri" panose="020F0502020204030204"/>
            </a:endParaRPr>
          </a:p>
          <a:p>
            <a:r>
              <a:rPr lang="fr-FR" dirty="0">
                <a:ea typeface="+mn-lt"/>
                <a:cs typeface="+mn-lt"/>
              </a:rPr>
              <a:t>Problème actuel :</a:t>
            </a:r>
            <a:endParaRPr lang="fr-FR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Manque de données locales fines</a:t>
            </a:r>
            <a:endParaRPr lang="fr-FR" dirty="0">
              <a:ea typeface="Calibri"/>
              <a:cs typeface="Calibri"/>
            </a:endParaRPr>
          </a:p>
          <a:p>
            <a:r>
              <a:rPr lang="fr-FR" dirty="0">
                <a:ea typeface="+mn-lt"/>
                <a:cs typeface="+mn-lt"/>
              </a:rPr>
              <a:t>Objectif :</a:t>
            </a:r>
            <a:endParaRPr lang="fr-FR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Intégrer de </a:t>
            </a:r>
            <a:r>
              <a:rPr lang="fr-FR" b="1" dirty="0">
                <a:ea typeface="+mn-lt"/>
                <a:cs typeface="+mn-lt"/>
              </a:rPr>
              <a:t>nouvelles sources hétérogènes</a:t>
            </a:r>
            <a:endParaRPr lang="fr-FR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Pipeline </a:t>
            </a:r>
            <a:r>
              <a:rPr lang="fr-FR" b="1" dirty="0">
                <a:ea typeface="+mn-lt"/>
                <a:cs typeface="+mn-lt"/>
              </a:rPr>
              <a:t>fiable, automatisé, scalable</a:t>
            </a:r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2B8D95-FD0B-3CB4-06E9-737A75F54622}"/>
              </a:ext>
            </a:extLst>
          </p:cNvPr>
          <p:cNvSpPr txBox="1"/>
          <p:nvPr/>
        </p:nvSpPr>
        <p:spPr>
          <a:xfrm>
            <a:off x="1099155" y="1941285"/>
            <a:ext cx="984552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i="1" dirty="0">
                <a:ea typeface="+mn-lt"/>
                <a:cs typeface="+mn-lt"/>
              </a:rPr>
              <a:t>La météo est un facteur clé pour équilibrer le réseau électrique, optimiser la production renouvelable et maîtriser les coûts. </a:t>
            </a:r>
            <a:endParaRPr lang="fr-FR" dirty="0"/>
          </a:p>
          <a:p>
            <a:r>
              <a:rPr lang="fr-FR" i="1" dirty="0">
                <a:ea typeface="+mn-lt"/>
                <a:cs typeface="+mn-lt"/>
              </a:rPr>
              <a:t>Or, dans certaines zones géographiques, les données météo officielles sont insuffisantes ou trop éloignées.</a:t>
            </a:r>
            <a:endParaRPr lang="fr-FR" dirty="0"/>
          </a:p>
          <a:p>
            <a:pPr algn="l"/>
            <a:endParaRPr lang="fr-F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40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05A42EF-68E6-4808-81CD-E5ABD0E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0A60F5-031D-EEB3-18A6-280ECDCD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Sources de données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4A154E-1950-4755-A5FC-5998EE0CC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C043E1B-A44A-25C1-3FB1-C5C26AE59550}"/>
              </a:ext>
            </a:extLst>
          </p:cNvPr>
          <p:cNvSpPr txBox="1"/>
          <p:nvPr/>
        </p:nvSpPr>
        <p:spPr>
          <a:xfrm>
            <a:off x="6411684" y="2158093"/>
            <a:ext cx="5127172" cy="894323"/>
          </a:xfrm>
          <a:prstGeom prst="rect">
            <a:avLst/>
          </a:prstGeom>
        </p:spPr>
        <p:txBody>
          <a:bodyPr rot="0" spcFirstLastPara="0" vertOverflow="overflow" horzOverflow="overflow" vert="horz" lIns="0" tIns="45720" rIns="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Pour combler ces zones peu couvertes, nous avons intégré des stations issues des réseaux InfoClimat et Weather Underground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C285-56FB-4B36-8ECA-C2D6596AA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7C076B-00B1-4629-B27F-A86F9885F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36" name="Espace réservé du contenu 4">
            <a:extLst>
              <a:ext uri="{FF2B5EF4-FFF2-40B4-BE49-F238E27FC236}">
                <a16:creationId xmlns:a16="http://schemas.microsoft.com/office/drawing/2014/main" id="{2411AA4D-F3FE-6670-99D7-6F45731F8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575690"/>
              </p:ext>
            </p:extLst>
          </p:nvPr>
        </p:nvGraphicFramePr>
        <p:xfrm>
          <a:off x="639535" y="1877785"/>
          <a:ext cx="5601317" cy="28099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7733">
                  <a:extLst>
                    <a:ext uri="{9D8B030D-6E8A-4147-A177-3AD203B41FA5}">
                      <a16:colId xmlns:a16="http://schemas.microsoft.com/office/drawing/2014/main" val="4010245976"/>
                    </a:ext>
                  </a:extLst>
                </a:gridCol>
                <a:gridCol w="1140966">
                  <a:extLst>
                    <a:ext uri="{9D8B030D-6E8A-4147-A177-3AD203B41FA5}">
                      <a16:colId xmlns:a16="http://schemas.microsoft.com/office/drawing/2014/main" val="3757171070"/>
                    </a:ext>
                  </a:extLst>
                </a:gridCol>
                <a:gridCol w="1389633">
                  <a:extLst>
                    <a:ext uri="{9D8B030D-6E8A-4147-A177-3AD203B41FA5}">
                      <a16:colId xmlns:a16="http://schemas.microsoft.com/office/drawing/2014/main" val="3731695089"/>
                    </a:ext>
                  </a:extLst>
                </a:gridCol>
                <a:gridCol w="777533">
                  <a:extLst>
                    <a:ext uri="{9D8B030D-6E8A-4147-A177-3AD203B41FA5}">
                      <a16:colId xmlns:a16="http://schemas.microsoft.com/office/drawing/2014/main" val="1483866838"/>
                    </a:ext>
                  </a:extLst>
                </a:gridCol>
                <a:gridCol w="1055452">
                  <a:extLst>
                    <a:ext uri="{9D8B030D-6E8A-4147-A177-3AD203B41FA5}">
                      <a16:colId xmlns:a16="http://schemas.microsoft.com/office/drawing/2014/main" val="2089330334"/>
                    </a:ext>
                  </a:extLst>
                </a:gridCol>
              </a:tblGrid>
              <a:tr h="734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Source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Localisation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Type de station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Format des fichiers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Fréquence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453555"/>
                  </a:ext>
                </a:extLst>
              </a:tr>
              <a:tr h="891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 err="1"/>
                        <a:t>InfoClimat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Hauts-de-France (Bergues, Lille, etc.)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Semi-professionnelle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dirty="0"/>
                        <a:t>JSON</a:t>
                      </a:r>
                      <a:endParaRPr lang="fr-FR" sz="1300" dirty="0"/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10–15 min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928879"/>
                  </a:ext>
                </a:extLst>
              </a:tr>
              <a:tr h="491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 err="1"/>
                        <a:t>Weather</a:t>
                      </a:r>
                      <a:r>
                        <a:rPr lang="fr-FR" sz="1300" dirty="0"/>
                        <a:t> Underground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Ichtegem, Belgique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Station amateur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dirty="0"/>
                        <a:t>XLSX</a:t>
                      </a:r>
                      <a:endParaRPr lang="fr-FR" sz="1300" dirty="0"/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15–30 min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631030"/>
                  </a:ext>
                </a:extLst>
              </a:tr>
              <a:tr h="691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 err="1"/>
                        <a:t>Weather</a:t>
                      </a:r>
                      <a:r>
                        <a:rPr lang="fr-FR" sz="1300" dirty="0"/>
                        <a:t> Underground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La Madeleine, France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Station amateur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dirty="0"/>
                        <a:t>XLSX</a:t>
                      </a:r>
                      <a:endParaRPr lang="fr-FR" sz="1300" dirty="0"/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/>
                        <a:t>15–30 min</a:t>
                      </a:r>
                    </a:p>
                  </a:txBody>
                  <a:tcPr marL="67254" marR="67254" marT="33627" marB="3362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45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859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B08735E-5566-3951-0954-58DDFE72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9"/>
          <a:stretch>
            <a:fillRect/>
          </a:stretch>
        </p:blipFill>
        <p:spPr>
          <a:xfrm>
            <a:off x="20" y="10"/>
            <a:ext cx="457895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AAB5859-0C3B-4536-9743-0CAF111ED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9733" y="0"/>
            <a:ext cx="7552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21A41D-5ED2-805B-076B-BD97DB0F9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206" y="516835"/>
            <a:ext cx="6339840" cy="1666501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  <a:ea typeface="+mj-lt"/>
                <a:cs typeface="+mj-lt"/>
              </a:rPr>
              <a:t>Architecture globale (AWS)</a:t>
            </a:r>
            <a:endParaRPr lang="fr-FR" sz="40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A51F47-81C5-43A3-98C0-DB7B15721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8972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5B1072-C4F0-4A06-562F-9B02A7365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206" y="2181876"/>
            <a:ext cx="6339840" cy="72713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J’ai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conçu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une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architecture cloud simple,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modulaire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et scalable,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basée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sur AWS,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afin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couvrir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toute la </a:t>
            </a:r>
            <a:r>
              <a:rPr lang="en-US" sz="1800" i="1" dirty="0" err="1">
                <a:solidFill>
                  <a:srgbClr val="FFFFFF"/>
                </a:solidFill>
                <a:ea typeface="+mn-lt"/>
                <a:cs typeface="+mn-lt"/>
              </a:rPr>
              <a:t>chaîne</a:t>
            </a:r>
            <a:r>
              <a:rPr lang="en-US" sz="1800" i="1" dirty="0">
                <a:solidFill>
                  <a:srgbClr val="FFFFFF"/>
                </a:solidFill>
                <a:ea typeface="+mn-lt"/>
                <a:cs typeface="+mn-lt"/>
              </a:rPr>
              <a:t> de la donnée.</a:t>
            </a:r>
            <a:endParaRPr lang="en-US" sz="1800" i="1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792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F83BAE65-D215-4292-9498-D9610AC2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554205-3971-1DDB-43B7-3BAE0EFD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915" y="634946"/>
            <a:ext cx="3921577" cy="1464364"/>
          </a:xfrm>
        </p:spPr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Collecte avec </a:t>
            </a:r>
            <a:r>
              <a:rPr lang="fr-FR" sz="3200" err="1">
                <a:ea typeface="+mj-lt"/>
                <a:cs typeface="+mj-lt"/>
              </a:rPr>
              <a:t>Airbyte</a:t>
            </a:r>
            <a:endParaRPr lang="fr-FR" sz="3200">
              <a:ea typeface="Calibri Light"/>
              <a:cs typeface="Calibri Light"/>
            </a:endParaRPr>
          </a:p>
        </p:txBody>
      </p:sp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6AF01DA-53B9-C533-8516-DC07F175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0" y="1844683"/>
            <a:ext cx="6909801" cy="2660273"/>
          </a:xfrm>
          <a:prstGeom prst="rect">
            <a:avLst/>
          </a:prstGeom>
        </p:spPr>
      </p:pic>
      <p:cxnSp>
        <p:nvCxnSpPr>
          <p:cNvPr id="62" name="Straight Connector 12">
            <a:extLst>
              <a:ext uri="{FF2B5EF4-FFF2-40B4-BE49-F238E27FC236}">
                <a16:creationId xmlns:a16="http://schemas.microsoft.com/office/drawing/2014/main" id="{5C99ACED-3F9B-471D-97BC-E5D2D231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ontent Placeholder 7">
            <a:extLst>
              <a:ext uri="{FF2B5EF4-FFF2-40B4-BE49-F238E27FC236}">
                <a16:creationId xmlns:a16="http://schemas.microsoft.com/office/drawing/2014/main" id="{E65AAB46-32E6-3B53-EACB-853897F5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914" y="2158093"/>
            <a:ext cx="4357006" cy="371100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La </a:t>
            </a:r>
            <a:r>
              <a:rPr lang="en-US" sz="1600" err="1">
                <a:ea typeface="+mn-lt"/>
                <a:cs typeface="+mn-lt"/>
              </a:rPr>
              <a:t>collecte</a:t>
            </a:r>
            <a:r>
              <a:rPr lang="en-US" sz="1600" dirty="0">
                <a:ea typeface="+mn-lt"/>
                <a:cs typeface="+mn-lt"/>
              </a:rPr>
              <a:t> des données est </a:t>
            </a:r>
            <a:r>
              <a:rPr lang="en-US" sz="1600" err="1">
                <a:ea typeface="+mn-lt"/>
                <a:cs typeface="+mn-lt"/>
              </a:rPr>
              <a:t>assurée</a:t>
            </a:r>
            <a:r>
              <a:rPr lang="en-US" sz="1600" dirty="0">
                <a:ea typeface="+mn-lt"/>
                <a:cs typeface="+mn-lt"/>
              </a:rPr>
              <a:t> par </a:t>
            </a:r>
            <a:r>
              <a:rPr lang="en-US" sz="1600" err="1">
                <a:ea typeface="+mn-lt"/>
                <a:cs typeface="+mn-lt"/>
              </a:rPr>
              <a:t>Airbyte</a:t>
            </a:r>
            <a:r>
              <a:rPr lang="en-US" sz="1600" dirty="0">
                <a:ea typeface="+mn-lt"/>
                <a:cs typeface="+mn-lt"/>
              </a:rPr>
              <a:t>, qui </a:t>
            </a:r>
            <a:r>
              <a:rPr lang="en-US" sz="1600" err="1">
                <a:ea typeface="+mn-lt"/>
                <a:cs typeface="+mn-lt"/>
              </a:rPr>
              <a:t>permet</a:t>
            </a:r>
            <a:r>
              <a:rPr lang="en-US" sz="1600" dirty="0">
                <a:ea typeface="+mn-lt"/>
                <a:cs typeface="+mn-lt"/>
              </a:rPr>
              <a:t> de se connecter aux </a:t>
            </a:r>
            <a:r>
              <a:rPr lang="en-US" sz="1600" err="1">
                <a:ea typeface="+mn-lt"/>
                <a:cs typeface="+mn-lt"/>
              </a:rPr>
              <a:t>différentes</a:t>
            </a:r>
            <a:r>
              <a:rPr lang="en-US" sz="1600" dirty="0">
                <a:ea typeface="+mn-lt"/>
                <a:cs typeface="+mn-lt"/>
              </a:rPr>
              <a:t> sources sans </a:t>
            </a:r>
            <a:r>
              <a:rPr lang="en-US" sz="1600" err="1">
                <a:ea typeface="+mn-lt"/>
                <a:cs typeface="+mn-lt"/>
              </a:rPr>
              <a:t>implémenter</a:t>
            </a:r>
            <a:r>
              <a:rPr lang="en-US" sz="1600" dirty="0">
                <a:ea typeface="+mn-lt"/>
                <a:cs typeface="+mn-lt"/>
              </a:rPr>
              <a:t> de </a:t>
            </a:r>
            <a:r>
              <a:rPr lang="en-US" sz="1600" err="1">
                <a:ea typeface="+mn-lt"/>
                <a:cs typeface="+mn-lt"/>
              </a:rPr>
              <a:t>logique</a:t>
            </a:r>
            <a:r>
              <a:rPr lang="en-US" sz="1600" dirty="0">
                <a:ea typeface="+mn-lt"/>
                <a:cs typeface="+mn-lt"/>
              </a:rPr>
              <a:t> métier.</a:t>
            </a:r>
          </a:p>
          <a:p>
            <a:r>
              <a:rPr lang="en-US" sz="1600" err="1">
                <a:ea typeface="+mn-lt"/>
                <a:cs typeface="+mn-lt"/>
              </a:rPr>
              <a:t>Rôle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d’Airbyte</a:t>
            </a:r>
            <a:r>
              <a:rPr lang="en-US" sz="1600" dirty="0">
                <a:ea typeface="+mn-lt"/>
                <a:cs typeface="+mn-lt"/>
              </a:rPr>
              <a:t> :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err="1">
                <a:ea typeface="+mn-lt"/>
                <a:cs typeface="+mn-lt"/>
              </a:rPr>
              <a:t>Connexion</a:t>
            </a:r>
            <a:r>
              <a:rPr lang="en-US" sz="1600" dirty="0">
                <a:ea typeface="+mn-lt"/>
                <a:cs typeface="+mn-lt"/>
              </a:rPr>
              <a:t> aux sources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dirty="0">
                <a:ea typeface="+mn-lt"/>
                <a:cs typeface="+mn-lt"/>
              </a:rPr>
              <a:t>Extraction </a:t>
            </a:r>
            <a:r>
              <a:rPr lang="en-US" sz="1600" err="1">
                <a:ea typeface="+mn-lt"/>
                <a:cs typeface="+mn-lt"/>
              </a:rPr>
              <a:t>automatique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Destination : </a:t>
            </a:r>
            <a:r>
              <a:rPr lang="en-US" sz="1600" b="1" dirty="0">
                <a:ea typeface="+mn-lt"/>
                <a:cs typeface="+mn-lt"/>
              </a:rPr>
              <a:t>S3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err="1">
                <a:ea typeface="+mn-lt"/>
                <a:cs typeface="+mn-lt"/>
              </a:rPr>
              <a:t>Avantages</a:t>
            </a:r>
            <a:r>
              <a:rPr lang="en-US" sz="1600" dirty="0">
                <a:ea typeface="+mn-lt"/>
                <a:cs typeface="+mn-lt"/>
              </a:rPr>
              <a:t> :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dirty="0">
                <a:ea typeface="+mn-lt"/>
                <a:cs typeface="+mn-lt"/>
              </a:rPr>
              <a:t>Low-code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err="1">
                <a:ea typeface="+mn-lt"/>
                <a:cs typeface="+mn-lt"/>
              </a:rPr>
              <a:t>Rejouable</a:t>
            </a:r>
            <a:endParaRPr lang="en-US" sz="160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err="1">
                <a:ea typeface="+mn-lt"/>
                <a:cs typeface="+mn-lt"/>
              </a:rPr>
              <a:t>Facilement</a:t>
            </a:r>
            <a:r>
              <a:rPr lang="en-US" sz="1600" dirty="0">
                <a:ea typeface="+mn-lt"/>
                <a:cs typeface="+mn-lt"/>
              </a:rPr>
              <a:t> extensible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C05757-249C-4F2B-B326-B940FDD9C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E922679-5189-4C5C-9FBB-6839F89C6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805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E2B246-A0F0-F1EB-8EB1-987E9313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41" y="617992"/>
            <a:ext cx="3084844" cy="2066017"/>
          </a:xfrm>
        </p:spPr>
        <p:txBody>
          <a:bodyPr anchor="ctr">
            <a:normAutofit/>
          </a:bodyPr>
          <a:lstStyle/>
          <a:p>
            <a:r>
              <a:rPr lang="fr-FR" sz="3200" dirty="0">
                <a:solidFill>
                  <a:srgbClr val="FFFFFF"/>
                </a:solidFill>
                <a:ea typeface="+mj-lt"/>
                <a:cs typeface="+mj-lt"/>
              </a:rPr>
              <a:t>Transformation des données</a:t>
            </a:r>
            <a:endParaRPr lang="fr-FR" sz="3200" dirty="0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877956-FEA9-F485-F3C0-5ED918591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726848"/>
            <a:ext cx="6413663" cy="5767160"/>
          </a:xfrm>
        </p:spPr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📁 Fichiers sources S3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JSON (</a:t>
            </a:r>
            <a:r>
              <a:rPr lang="fr-FR" sz="1400" dirty="0" err="1">
                <a:ea typeface="+mn-lt"/>
                <a:cs typeface="+mn-lt"/>
              </a:rPr>
              <a:t>InfoClimat</a:t>
            </a:r>
            <a:r>
              <a:rPr lang="fr-FR" sz="1400" dirty="0">
                <a:ea typeface="+mn-lt"/>
                <a:cs typeface="+mn-lt"/>
              </a:rPr>
              <a:t>)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JSON/XLSX (</a:t>
            </a:r>
            <a:r>
              <a:rPr lang="fr-FR" sz="1400" err="1">
                <a:ea typeface="+mn-lt"/>
                <a:cs typeface="+mn-lt"/>
              </a:rPr>
              <a:t>Weather</a:t>
            </a:r>
            <a:r>
              <a:rPr lang="fr-FR" sz="1400" dirty="0">
                <a:ea typeface="+mn-lt"/>
                <a:cs typeface="+mn-lt"/>
              </a:rPr>
              <a:t> Ichtegem, La Madeleine)</a:t>
            </a: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      ▼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🐍 Script Python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Nettoyage des colonnes (Temp, </a:t>
            </a:r>
            <a:r>
              <a:rPr lang="fr-FR" sz="1400" dirty="0" err="1">
                <a:ea typeface="+mn-lt"/>
                <a:cs typeface="+mn-lt"/>
              </a:rPr>
              <a:t>Humidity</a:t>
            </a:r>
            <a:r>
              <a:rPr lang="fr-FR" sz="1400" dirty="0">
                <a:ea typeface="+mn-lt"/>
                <a:cs typeface="+mn-lt"/>
              </a:rPr>
              <a:t>, Wind…)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Conversion des formats (</a:t>
            </a:r>
            <a:r>
              <a:rPr lang="fr-FR" sz="1400" dirty="0" err="1">
                <a:ea typeface="+mn-lt"/>
                <a:cs typeface="+mn-lt"/>
              </a:rPr>
              <a:t>float</a:t>
            </a:r>
            <a:r>
              <a:rPr lang="fr-FR" sz="1400" dirty="0">
                <a:ea typeface="+mn-lt"/>
                <a:cs typeface="+mn-lt"/>
              </a:rPr>
              <a:t>, </a:t>
            </a:r>
            <a:r>
              <a:rPr lang="fr-FR" sz="1400" dirty="0" err="1">
                <a:ea typeface="+mn-lt"/>
                <a:cs typeface="+mn-lt"/>
              </a:rPr>
              <a:t>datetime</a:t>
            </a:r>
            <a:r>
              <a:rPr lang="fr-FR" sz="1400" dirty="0">
                <a:ea typeface="+mn-lt"/>
                <a:cs typeface="+mn-lt"/>
              </a:rPr>
              <a:t>)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Harmonisation des noms et métadonnées station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      ▼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☑️ Contrôle qualité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Valeurs manquantes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Doublons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Typage correct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      ▼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🍃 MongoDB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Collections : </a:t>
            </a:r>
            <a:r>
              <a:rPr lang="fr-FR" sz="1400" dirty="0" err="1">
                <a:ea typeface="+mn-lt"/>
                <a:cs typeface="+mn-lt"/>
              </a:rPr>
              <a:t>InfoClimat</a:t>
            </a:r>
            <a:r>
              <a:rPr lang="fr-FR" sz="1400" dirty="0">
                <a:ea typeface="+mn-lt"/>
                <a:cs typeface="+mn-lt"/>
              </a:rPr>
              <a:t>, </a:t>
            </a:r>
            <a:r>
              <a:rPr lang="fr-FR" sz="1400" dirty="0" err="1">
                <a:ea typeface="+mn-lt"/>
                <a:cs typeface="+mn-lt"/>
              </a:rPr>
              <a:t>WeatherIchtegem</a:t>
            </a:r>
            <a:r>
              <a:rPr lang="fr-FR" sz="1400" dirty="0">
                <a:ea typeface="+mn-lt"/>
                <a:cs typeface="+mn-lt"/>
              </a:rPr>
              <a:t>, </a:t>
            </a:r>
            <a:r>
              <a:rPr lang="fr-FR" sz="1400" dirty="0" err="1">
                <a:ea typeface="+mn-lt"/>
                <a:cs typeface="+mn-lt"/>
              </a:rPr>
              <a:t>WeatherLaMadeleine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Collection Stations (métadonnées)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      ▼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⏱ </a:t>
            </a:r>
            <a:r>
              <a:rPr lang="fr-FR" sz="1400" dirty="0" err="1">
                <a:ea typeface="+mn-lt"/>
                <a:cs typeface="+mn-lt"/>
              </a:rPr>
              <a:t>Reporting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Temps d’accès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Nombre de documents insérés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   - Exemple de document</a:t>
            </a:r>
            <a:endParaRPr lang="fr-FR" sz="14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fr-FR" sz="1100"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92937A-41D5-08FC-12F6-07A8D1C15AFA}"/>
              </a:ext>
            </a:extLst>
          </p:cNvPr>
          <p:cNvSpPr txBox="1"/>
          <p:nvPr/>
        </p:nvSpPr>
        <p:spPr>
          <a:xfrm>
            <a:off x="306201" y="2420957"/>
            <a:ext cx="349042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ea typeface="+mn-lt"/>
                <a:cs typeface="+mn-lt"/>
              </a:rPr>
              <a:t>Les données provenant de sources hétérogènes sont harmonisées via un script Python pour être exploitables par MongoDB et les Data Scientists.</a:t>
            </a:r>
            <a:endParaRPr lang="fr-FR" sz="1600" i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053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D95B0EB-67AC-42B7-3B32-F75E1A89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2707066"/>
          </a:xfrm>
        </p:spPr>
        <p:txBody>
          <a:bodyPr anchor="ctr">
            <a:normAutofit/>
          </a:bodyPr>
          <a:lstStyle/>
          <a:p>
            <a:r>
              <a:rPr lang="fr-FR" sz="3600" dirty="0" err="1">
                <a:solidFill>
                  <a:srgbClr val="FFFFFF"/>
                </a:solidFill>
                <a:ea typeface="+mj-lt"/>
                <a:cs typeface="+mj-lt"/>
              </a:rPr>
              <a:t>Reporting</a:t>
            </a:r>
            <a:r>
              <a:rPr lang="fr-FR" sz="3600" dirty="0">
                <a:solidFill>
                  <a:srgbClr val="FFFFFF"/>
                </a:solidFill>
                <a:ea typeface="+mj-lt"/>
                <a:cs typeface="+mj-lt"/>
              </a:rPr>
              <a:t> – Temps d’accès</a:t>
            </a:r>
            <a:endParaRPr lang="fr-FR" dirty="0">
              <a:ea typeface="+mj-lt"/>
              <a:cs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Espace réservé du contenu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9016AC1-0D55-2188-E549-8E3B68228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3324" y="846508"/>
            <a:ext cx="6579809" cy="279431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EA78D46-3117-04A9-734A-36A1706808A5}"/>
              </a:ext>
            </a:extLst>
          </p:cNvPr>
          <p:cNvSpPr txBox="1"/>
          <p:nvPr/>
        </p:nvSpPr>
        <p:spPr>
          <a:xfrm>
            <a:off x="491448" y="2725248"/>
            <a:ext cx="333000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ea typeface="+mn-lt"/>
                <a:cs typeface="+mn-lt"/>
              </a:rPr>
              <a:t>Nous avons testé l’accès aux données pour différentes stations et horaires. Les temps d’accès sont très faibles (moins de 100 ms), garantissant des données rapidement exploitables </a:t>
            </a:r>
            <a:endParaRPr lang="fr-FR" sz="1600" i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19C1D4A-2B64-5A93-D8E4-6A80A6489246}"/>
              </a:ext>
            </a:extLst>
          </p:cNvPr>
          <p:cNvSpPr txBox="1"/>
          <p:nvPr/>
        </p:nvSpPr>
        <p:spPr>
          <a:xfrm>
            <a:off x="4451047" y="4054451"/>
            <a:ext cx="652378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dirty="0">
                <a:ea typeface="Calibri"/>
                <a:cs typeface="Calibri"/>
              </a:rPr>
              <a:t>Nombre</a:t>
            </a:r>
            <a:r>
              <a:rPr lang="fr-FR" dirty="0">
                <a:ea typeface="+mn-lt"/>
                <a:cs typeface="+mn-lt"/>
              </a:rPr>
              <a:t> total de documents : </a:t>
            </a:r>
            <a:r>
              <a:rPr lang="fr-FR" b="1" dirty="0">
                <a:ea typeface="+mn-lt"/>
                <a:cs typeface="+mn-lt"/>
              </a:rPr>
              <a:t>3808</a:t>
            </a:r>
            <a:endParaRPr lang="fr-FR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Exemple de requête pour </a:t>
            </a:r>
            <a:r>
              <a:rPr lang="fr-FR" b="1">
                <a:ea typeface="+mn-lt"/>
                <a:cs typeface="+mn-lt"/>
              </a:rPr>
              <a:t>La Madeleine à 00:04</a:t>
            </a:r>
            <a:r>
              <a:rPr lang="fr-FR">
                <a:ea typeface="+mn-lt"/>
                <a:cs typeface="+mn-lt"/>
              </a:rPr>
              <a:t> :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+mn-lt"/>
                <a:cs typeface="+mn-lt"/>
              </a:rPr>
              <a:t>Documents trouvés : 7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+mn-lt"/>
                <a:cs typeface="+mn-lt"/>
              </a:rPr>
              <a:t>Temps d’accès : 23,8 ms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+mn-lt"/>
                <a:cs typeface="+mn-lt"/>
              </a:rPr>
              <a:t>Exemple de requête pour </a:t>
            </a:r>
            <a:r>
              <a:rPr lang="fr-FR" b="1" dirty="0">
                <a:ea typeface="+mn-lt"/>
                <a:cs typeface="+mn-lt"/>
              </a:rPr>
              <a:t>Ichtegem à 00:04</a:t>
            </a:r>
            <a:r>
              <a:rPr lang="fr-FR" dirty="0">
                <a:ea typeface="+mn-lt"/>
                <a:cs typeface="+mn-lt"/>
              </a:rPr>
              <a:t> :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+mn-lt"/>
                <a:cs typeface="+mn-lt"/>
              </a:rPr>
              <a:t>Documents trouvés : 7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+mn-lt"/>
                <a:cs typeface="+mn-lt"/>
              </a:rPr>
              <a:t>Temps d’accès : 75,96 ms</a:t>
            </a:r>
            <a:endParaRPr lang="fr-FR" dirty="0"/>
          </a:p>
          <a:p>
            <a:pPr algn="l"/>
            <a:endParaRPr lang="fr-F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321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32346CA-2FEB-76C2-065E-AEFA653E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51" y="605896"/>
            <a:ext cx="3290463" cy="2380494"/>
          </a:xfrm>
        </p:spPr>
        <p:txBody>
          <a:bodyPr anchor="ctr">
            <a:normAutofit/>
          </a:bodyPr>
          <a:lstStyle/>
          <a:p>
            <a:r>
              <a:rPr lang="fr-FR" sz="3200" dirty="0">
                <a:solidFill>
                  <a:srgbClr val="FFFFFF"/>
                </a:solidFill>
                <a:ea typeface="+mj-lt"/>
                <a:cs typeface="+mj-lt"/>
              </a:rPr>
              <a:t>Tests d’intégrité &amp; qualité (processus)</a:t>
            </a:r>
            <a:endParaRPr lang="fr-FR" sz="3200" dirty="0">
              <a:ea typeface="Calibri Light"/>
              <a:cs typeface="Calibri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EB1966-116B-5094-408B-7EEA17346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4236521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 sz="1400" dirty="0">
                <a:ea typeface="+mn-lt"/>
                <a:cs typeface="+mn-lt"/>
              </a:rPr>
              <a:t>🍃 Collections MongoDB</a:t>
            </a:r>
            <a:endParaRPr lang="fr-FR" sz="1400" dirty="0">
              <a:ea typeface="Calibri" panose="020F0502020204030204"/>
              <a:cs typeface="Calibri" panose="020F0502020204030204"/>
            </a:endParaRPr>
          </a:p>
          <a:p>
            <a:r>
              <a:rPr lang="fr-FR" sz="1400" dirty="0">
                <a:ea typeface="+mn-lt"/>
                <a:cs typeface="+mn-lt"/>
              </a:rPr>
              <a:t>   - </a:t>
            </a:r>
            <a:r>
              <a:rPr lang="fr-FR" sz="1400" dirty="0" err="1">
                <a:ea typeface="+mn-lt"/>
                <a:cs typeface="+mn-lt"/>
              </a:rPr>
              <a:t>InfoClimat</a:t>
            </a:r>
            <a:endParaRPr lang="fr-FR" sz="1400" dirty="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</a:t>
            </a:r>
            <a:r>
              <a:rPr lang="fr-FR" sz="1400" dirty="0" err="1">
                <a:ea typeface="+mn-lt"/>
                <a:cs typeface="+mn-lt"/>
              </a:rPr>
              <a:t>Weather</a:t>
            </a:r>
            <a:r>
              <a:rPr lang="fr-FR" sz="1400" dirty="0">
                <a:ea typeface="+mn-lt"/>
                <a:cs typeface="+mn-lt"/>
              </a:rPr>
              <a:t> Ichtegem</a:t>
            </a:r>
            <a:endParaRPr lang="fr-FR" sz="1400" dirty="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</a:t>
            </a:r>
            <a:r>
              <a:rPr lang="fr-FR" sz="1400" err="1">
                <a:ea typeface="+mn-lt"/>
                <a:cs typeface="+mn-lt"/>
              </a:rPr>
              <a:t>Weather</a:t>
            </a:r>
            <a:r>
              <a:rPr lang="fr-FR" sz="1400" dirty="0">
                <a:ea typeface="+mn-lt"/>
                <a:cs typeface="+mn-lt"/>
              </a:rPr>
              <a:t> La Madeleine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      ▼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🐍 Script Python</a:t>
            </a:r>
            <a:endParaRPr lang="fr-FR" sz="1400" dirty="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Vérifie si collection non vide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Vérifie valeurs manquantes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Vérifie doublons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Vérifie types des colonnes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      ▼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✅ </a:t>
            </a:r>
            <a:r>
              <a:rPr lang="fr-FR" sz="1400" err="1">
                <a:ea typeface="+mn-lt"/>
                <a:cs typeface="+mn-lt"/>
              </a:rPr>
              <a:t>Reporting</a:t>
            </a:r>
            <a:r>
              <a:rPr lang="fr-FR" sz="1400" dirty="0">
                <a:ea typeface="+mn-lt"/>
                <a:cs typeface="+mn-lt"/>
              </a:rPr>
              <a:t> qualité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Résumé des tests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Aperçu des premières lignes</a:t>
            </a:r>
            <a:endParaRPr lang="fr-FR" sz="1400">
              <a:ea typeface="Calibri"/>
              <a:cs typeface="Calibri"/>
            </a:endParaRPr>
          </a:p>
          <a:p>
            <a:r>
              <a:rPr lang="fr-FR" sz="1400" dirty="0">
                <a:ea typeface="+mn-lt"/>
                <a:cs typeface="+mn-lt"/>
              </a:rPr>
              <a:t>   - Statistiques sur valeurs manquantes et doublons</a:t>
            </a:r>
            <a:endParaRPr lang="fr-FR" sz="1400">
              <a:ea typeface="Calibri"/>
              <a:cs typeface="Calibri"/>
            </a:endParaRPr>
          </a:p>
          <a:p>
            <a:endParaRPr lang="fr-FR" sz="1400"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82A3627-B0DB-7D88-8581-260DCE28F6DF}"/>
              </a:ext>
            </a:extLst>
          </p:cNvPr>
          <p:cNvSpPr txBox="1"/>
          <p:nvPr/>
        </p:nvSpPr>
        <p:spPr>
          <a:xfrm>
            <a:off x="289012" y="2728431"/>
            <a:ext cx="356427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ea typeface="+mn-lt"/>
                <a:cs typeface="+mn-lt"/>
              </a:rPr>
              <a:t>Avant d’utiliser les données pour l’analyse, nous exécutons un ensemble de tests d’intégrité automatisés pour nous assurer qu’elles sont complètes, sans doublons et correctement typées. Un </a:t>
            </a:r>
            <a:r>
              <a:rPr lang="fr-FR" sz="1600" i="1" dirty="0" err="1">
                <a:solidFill>
                  <a:schemeClr val="bg1"/>
                </a:solidFill>
                <a:ea typeface="+mn-lt"/>
                <a:cs typeface="+mn-lt"/>
              </a:rPr>
              <a:t>reporting</a:t>
            </a:r>
            <a:r>
              <a:rPr lang="fr-FR" sz="1600" i="1" dirty="0">
                <a:solidFill>
                  <a:schemeClr val="bg1"/>
                </a:solidFill>
                <a:ea typeface="+mn-lt"/>
                <a:cs typeface="+mn-lt"/>
              </a:rPr>
              <a:t> permet de visualiser rapidement l’état de chaque collection.</a:t>
            </a:r>
            <a:endParaRPr lang="fr-FR" sz="1600" i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988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2B475C-D81D-BEAC-48AE-DC43476E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314653" cy="2574018"/>
          </a:xfrm>
        </p:spPr>
        <p:txBody>
          <a:bodyPr anchor="ctr"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ea typeface="+mj-lt"/>
                <a:cs typeface="+mj-lt"/>
              </a:rPr>
              <a:t>Résultats qualité des données</a:t>
            </a:r>
            <a:endParaRPr lang="fr-FR" dirty="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626EB3-AB57-E8B5-87A0-223A3706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407928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 sz="1600" b="1" err="1">
                <a:ea typeface="+mn-lt"/>
                <a:cs typeface="+mn-lt"/>
              </a:rPr>
              <a:t>InfoClimat</a:t>
            </a:r>
            <a:r>
              <a:rPr lang="fr-FR" sz="1600" dirty="0">
                <a:ea typeface="+mn-lt"/>
                <a:cs typeface="+mn-lt"/>
              </a:rPr>
              <a:t> :</a:t>
            </a:r>
            <a:endParaRPr lang="fr-FR" sz="1600" dirty="0">
              <a:ea typeface="Calibri" panose="020F0502020204030204"/>
              <a:cs typeface="Calibri" panose="020F0502020204030204"/>
            </a:endParaRPr>
          </a:p>
          <a:p>
            <a:r>
              <a:rPr lang="fr-FR" sz="1600" dirty="0">
                <a:ea typeface="+mn-lt"/>
                <a:cs typeface="+mn-lt"/>
              </a:rPr>
              <a:t>Valeurs manquantes : 0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Doublons : test ignoré (colonnes complexes)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Types des colonnes : </a:t>
            </a:r>
            <a:r>
              <a:rPr lang="fr-FR" sz="1600" err="1">
                <a:latin typeface="Consolas"/>
              </a:rPr>
              <a:t>object</a:t>
            </a:r>
            <a:r>
              <a:rPr lang="fr-FR" sz="1600" dirty="0">
                <a:ea typeface="+mn-lt"/>
                <a:cs typeface="+mn-lt"/>
              </a:rPr>
              <a:t> (</a:t>
            </a:r>
            <a:r>
              <a:rPr lang="fr-FR" sz="1600" err="1">
                <a:ea typeface="+mn-lt"/>
                <a:cs typeface="+mn-lt"/>
              </a:rPr>
              <a:t>status</a:t>
            </a:r>
            <a:r>
              <a:rPr lang="fr-FR" sz="1600" dirty="0">
                <a:ea typeface="+mn-lt"/>
                <a:cs typeface="+mn-lt"/>
              </a:rPr>
              <a:t>, </a:t>
            </a:r>
            <a:r>
              <a:rPr lang="fr-FR" sz="1600" err="1">
                <a:ea typeface="+mn-lt"/>
                <a:cs typeface="+mn-lt"/>
              </a:rPr>
              <a:t>errors</a:t>
            </a:r>
            <a:r>
              <a:rPr lang="fr-FR" sz="1600" dirty="0">
                <a:ea typeface="+mn-lt"/>
                <a:cs typeface="+mn-lt"/>
              </a:rPr>
              <a:t>, data…)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b="1" err="1">
                <a:ea typeface="+mn-lt"/>
                <a:cs typeface="+mn-lt"/>
              </a:rPr>
              <a:t>Weather</a:t>
            </a:r>
            <a:r>
              <a:rPr lang="fr-FR" sz="1600" b="1" dirty="0">
                <a:ea typeface="+mn-lt"/>
                <a:cs typeface="+mn-lt"/>
              </a:rPr>
              <a:t> Ichtegem</a:t>
            </a:r>
            <a:r>
              <a:rPr lang="fr-FR" sz="1600" dirty="0">
                <a:ea typeface="+mn-lt"/>
                <a:cs typeface="+mn-lt"/>
              </a:rPr>
              <a:t> :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Valeurs manquantes : 14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Doublons : 1899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Types : mélange </a:t>
            </a:r>
            <a:r>
              <a:rPr lang="fr-FR" sz="1600" dirty="0">
                <a:latin typeface="Consolas"/>
              </a:rPr>
              <a:t>float64</a:t>
            </a:r>
            <a:r>
              <a:rPr lang="fr-FR" sz="1600" dirty="0">
                <a:ea typeface="+mn-lt"/>
                <a:cs typeface="+mn-lt"/>
              </a:rPr>
              <a:t>, </a:t>
            </a:r>
            <a:r>
              <a:rPr lang="fr-FR" sz="1600" err="1">
                <a:latin typeface="Consolas"/>
              </a:rPr>
              <a:t>object</a:t>
            </a:r>
            <a:r>
              <a:rPr lang="fr-FR" sz="1600" dirty="0">
                <a:ea typeface="+mn-lt"/>
                <a:cs typeface="+mn-lt"/>
              </a:rPr>
              <a:t>, </a:t>
            </a:r>
            <a:r>
              <a:rPr lang="fr-FR" sz="1600" dirty="0">
                <a:latin typeface="Consolas"/>
              </a:rPr>
              <a:t>int64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b="1" err="1">
                <a:ea typeface="+mn-lt"/>
                <a:cs typeface="+mn-lt"/>
              </a:rPr>
              <a:t>Weather</a:t>
            </a:r>
            <a:r>
              <a:rPr lang="fr-FR" sz="1600" b="1" dirty="0">
                <a:ea typeface="+mn-lt"/>
                <a:cs typeface="+mn-lt"/>
              </a:rPr>
              <a:t> La Madeleine</a:t>
            </a:r>
            <a:r>
              <a:rPr lang="fr-FR" sz="1600" dirty="0">
                <a:ea typeface="+mn-lt"/>
                <a:cs typeface="+mn-lt"/>
              </a:rPr>
              <a:t> :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Valeurs manquantes : 116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Doublons : 1908</a:t>
            </a:r>
            <a:endParaRPr lang="fr-FR" sz="1600">
              <a:ea typeface="Calibri"/>
              <a:cs typeface="Calibri"/>
            </a:endParaRPr>
          </a:p>
          <a:p>
            <a:r>
              <a:rPr lang="fr-FR" sz="1600" dirty="0">
                <a:ea typeface="+mn-lt"/>
                <a:cs typeface="+mn-lt"/>
              </a:rPr>
              <a:t>Types : mélange </a:t>
            </a:r>
            <a:r>
              <a:rPr lang="fr-FR" sz="1600" dirty="0">
                <a:latin typeface="Consolas"/>
              </a:rPr>
              <a:t>float64</a:t>
            </a:r>
            <a:r>
              <a:rPr lang="fr-FR" sz="1600" dirty="0">
                <a:ea typeface="+mn-lt"/>
                <a:cs typeface="+mn-lt"/>
              </a:rPr>
              <a:t>, </a:t>
            </a:r>
            <a:r>
              <a:rPr lang="fr-FR" sz="1600" err="1">
                <a:latin typeface="Consolas"/>
              </a:rPr>
              <a:t>object</a:t>
            </a:r>
            <a:r>
              <a:rPr lang="fr-FR" sz="1600" dirty="0">
                <a:ea typeface="+mn-lt"/>
                <a:cs typeface="+mn-lt"/>
              </a:rPr>
              <a:t>, </a:t>
            </a:r>
            <a:r>
              <a:rPr lang="fr-FR" sz="1600" dirty="0">
                <a:latin typeface="Consolas"/>
              </a:rPr>
              <a:t>int64</a:t>
            </a:r>
            <a:endParaRPr lang="fr-FR" sz="1600" dirty="0"/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D9A4B5-62A2-6FFE-FDCA-DD33C6938C16}"/>
              </a:ext>
            </a:extLst>
          </p:cNvPr>
          <p:cNvSpPr txBox="1"/>
          <p:nvPr/>
        </p:nvSpPr>
        <p:spPr>
          <a:xfrm>
            <a:off x="497178" y="2663498"/>
            <a:ext cx="331282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ea typeface="+mn-lt"/>
                <a:cs typeface="+mn-lt"/>
              </a:rPr>
              <a:t>Nous avons effectué des tests d’intégrité sur toutes les collections. Même si certaines valeurs manquent et quelques doublons existent sur les stations amateurs, les données sont globalement cohérentes et prêtes à être exploitées.</a:t>
            </a:r>
            <a:endParaRPr lang="fr-FR" sz="1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121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8EDC6-4B17-5C23-5570-78769F2B8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52698"/>
            <a:ext cx="10058400" cy="1160472"/>
          </a:xfrm>
        </p:spPr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Conteneurisation avec Docker</a:t>
            </a:r>
            <a:endParaRPr lang="fr-FR" sz="3200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678685-86DF-CB38-CF44-668C5FDB2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fr-FR" b="1" i="1" dirty="0">
                <a:ea typeface="+mn-lt"/>
                <a:cs typeface="+mn-lt"/>
              </a:rPr>
              <a:t>Avant le déploiement sur AWS, MongoDB est conteneurisé afin de garantir un environnement reproductible et portable.</a:t>
            </a:r>
            <a:endParaRPr lang="fr-FR" i="1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MongoDB et l’application sont définis dans un fichier </a:t>
            </a:r>
            <a:r>
              <a:rPr lang="fr-FR" dirty="0">
                <a:latin typeface="Consolas"/>
                <a:ea typeface="+mn-lt"/>
                <a:cs typeface="+mn-lt"/>
              </a:rPr>
              <a:t>docker-</a:t>
            </a:r>
            <a:r>
              <a:rPr lang="fr-FR" dirty="0" err="1">
                <a:latin typeface="Consolas"/>
                <a:ea typeface="+mn-lt"/>
                <a:cs typeface="+mn-lt"/>
              </a:rPr>
              <a:t>compose.yml</a:t>
            </a:r>
            <a:r>
              <a:rPr lang="fr-FR" dirty="0">
                <a:ea typeface="+mn-lt"/>
                <a:cs typeface="+mn-lt"/>
              </a:rPr>
              <a:t>.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L’image MongoDB officielle est utilisée avec un volume pour la persistance des données.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Les services sont lancés et orchestrés automatiquement par Docker Compose.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Cette étape permet de valider le fonctionnement complet en local avant le déploiement sur AWS.</a:t>
            </a:r>
          </a:p>
          <a:p>
            <a:r>
              <a:rPr lang="fr-FR" b="1" dirty="0">
                <a:ea typeface="+mn-lt"/>
                <a:cs typeface="+mn-lt"/>
              </a:rPr>
              <a:t>Commandes utilisées :</a:t>
            </a:r>
            <a:endParaRPr lang="fr-FR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docker compose </a:t>
            </a:r>
            <a:r>
              <a:rPr lang="fr-FR" err="1">
                <a:ea typeface="+mn-lt"/>
                <a:cs typeface="+mn-lt"/>
              </a:rPr>
              <a:t>build</a:t>
            </a:r>
            <a:endParaRPr lang="fr-FR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fr-FR" dirty="0">
                <a:ea typeface="+mn-lt"/>
                <a:cs typeface="+mn-lt"/>
              </a:rPr>
              <a:t>docker compose up –d</a:t>
            </a:r>
          </a:p>
          <a:p>
            <a:pPr marL="383540" lvl="1">
              <a:buNone/>
            </a:pPr>
            <a:r>
              <a:rPr lang="fr-FR" i="1" dirty="0">
                <a:ea typeface="+mn-lt"/>
                <a:cs typeface="+mn-lt"/>
              </a:rPr>
              <a:t>(</a:t>
            </a:r>
            <a:r>
              <a:rPr lang="fr-FR" i="1" dirty="0" err="1">
                <a:ea typeface="+mn-lt"/>
                <a:cs typeface="+mn-lt"/>
              </a:rPr>
              <a:t>build</a:t>
            </a:r>
            <a:r>
              <a:rPr lang="fr-FR" i="1" dirty="0">
                <a:ea typeface="+mn-lt"/>
                <a:cs typeface="+mn-lt"/>
              </a:rPr>
              <a:t> : construit les images — up : lance les conteneurs)</a:t>
            </a:r>
            <a:endParaRPr lang="fr-FR" dirty="0">
              <a:ea typeface="+mn-lt"/>
              <a:cs typeface="+mn-lt"/>
            </a:endParaRPr>
          </a:p>
          <a:p>
            <a:pPr marL="200660" lvl="1" indent="0">
              <a:buFont typeface="Courier New" panose="020F0502020204030204" pitchFamily="34" charset="0"/>
              <a:buNone/>
            </a:pPr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796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C3D769-B41B-DA99-E79B-5472109C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4662"/>
          </a:xfrm>
        </p:spPr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Publication de l’image Docker sur AWS ECR</a:t>
            </a:r>
            <a:endParaRPr lang="fr-FR" sz="3200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164C38-3430-804B-2F24-645E9C0C4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185" y="1845734"/>
            <a:ext cx="10578495" cy="3926596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fr-FR" b="1" i="1" dirty="0">
                <a:ea typeface="+mn-lt"/>
                <a:cs typeface="+mn-lt"/>
              </a:rPr>
              <a:t>Une fois l’application validée en local, l’image Docker est publiée sur AWS ECR afin d’être utilisée par ECS.</a:t>
            </a:r>
            <a:endParaRPr lang="fr-FR" i="1">
              <a:ea typeface="+mn-lt"/>
              <a:cs typeface="+mn-lt"/>
            </a:endParaRPr>
          </a:p>
          <a:p>
            <a:pPr marL="383540" lvl="1"/>
            <a:r>
              <a:rPr lang="fr-FR" dirty="0">
                <a:ea typeface="+mn-lt"/>
                <a:cs typeface="+mn-lt"/>
              </a:rPr>
              <a:t>Un registre privé Amazon ECR est créé pour stocker les images Docker.</a:t>
            </a:r>
            <a:endParaRPr lang="fr-FR">
              <a:ea typeface="Calibri"/>
              <a:cs typeface="Calibri"/>
            </a:endParaRPr>
          </a:p>
          <a:p>
            <a:pPr marL="383540" lvl="1"/>
            <a:r>
              <a:rPr lang="fr-FR" dirty="0">
                <a:ea typeface="+mn-lt"/>
                <a:cs typeface="+mn-lt"/>
              </a:rPr>
              <a:t>L’image de l’application est taguée selon le format attendu par AWS.</a:t>
            </a:r>
            <a:endParaRPr lang="fr-FR">
              <a:ea typeface="Calibri"/>
              <a:cs typeface="Calibri"/>
            </a:endParaRPr>
          </a:p>
          <a:p>
            <a:pPr marL="383540" lvl="1"/>
            <a:r>
              <a:rPr lang="fr-FR" dirty="0">
                <a:ea typeface="+mn-lt"/>
                <a:cs typeface="+mn-lt"/>
              </a:rPr>
              <a:t>L’image est poussée vers ECR pour être accessible par les services AWS.</a:t>
            </a:r>
          </a:p>
          <a:p>
            <a:pPr marL="200660" lvl="1" indent="0">
              <a:spcAft>
                <a:spcPts val="500"/>
              </a:spcAft>
              <a:buNone/>
            </a:pPr>
            <a:r>
              <a:rPr lang="fr-FR" dirty="0">
                <a:ea typeface="+mn-lt"/>
                <a:cs typeface="+mn-lt"/>
              </a:rPr>
              <a:t>Cette étape fait le lien entre le développement local et le déploiement cloud.</a:t>
            </a:r>
            <a:endParaRPr lang="fr-FR" dirty="0">
              <a:ea typeface="Calibri"/>
              <a:cs typeface="Calibri"/>
            </a:endParaRPr>
          </a:p>
          <a:p>
            <a:pPr marL="200660" lvl="1" indent="0">
              <a:spcAft>
                <a:spcPts val="500"/>
              </a:spcAft>
              <a:buNone/>
            </a:pPr>
            <a:endParaRPr lang="fr-FR">
              <a:ea typeface="+mn-lt"/>
              <a:cs typeface="+mn-lt"/>
            </a:endParaRPr>
          </a:p>
          <a:p>
            <a:pPr marL="200660" lvl="1" indent="0">
              <a:spcAft>
                <a:spcPts val="500"/>
              </a:spcAft>
              <a:buNone/>
            </a:pPr>
            <a:r>
              <a:rPr lang="fr-FR" dirty="0">
                <a:ea typeface="+mn-lt"/>
                <a:cs typeface="+mn-lt"/>
              </a:rPr>
              <a:t>Commandes utilisées :</a:t>
            </a:r>
          </a:p>
          <a:p>
            <a:pPr marL="383540" lvl="1"/>
            <a:r>
              <a:rPr lang="fr-FR" dirty="0" err="1">
                <a:ea typeface="+mn-lt"/>
                <a:cs typeface="+mn-lt"/>
              </a:rPr>
              <a:t>aws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ecr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get</a:t>
            </a:r>
            <a:r>
              <a:rPr lang="fr-FR" dirty="0">
                <a:ea typeface="+mn-lt"/>
                <a:cs typeface="+mn-lt"/>
              </a:rPr>
              <a:t>-login-</a:t>
            </a:r>
            <a:r>
              <a:rPr lang="fr-FR" dirty="0" err="1">
                <a:ea typeface="+mn-lt"/>
                <a:cs typeface="+mn-lt"/>
              </a:rPr>
              <a:t>password</a:t>
            </a:r>
            <a:r>
              <a:rPr lang="fr-FR" dirty="0">
                <a:ea typeface="+mn-lt"/>
                <a:cs typeface="+mn-lt"/>
              </a:rPr>
              <a:t> --</a:t>
            </a:r>
            <a:r>
              <a:rPr lang="fr-FR" dirty="0" err="1">
                <a:ea typeface="+mn-lt"/>
                <a:cs typeface="+mn-lt"/>
              </a:rPr>
              <a:t>region</a:t>
            </a:r>
            <a:r>
              <a:rPr lang="fr-FR" dirty="0">
                <a:ea typeface="+mn-lt"/>
                <a:cs typeface="+mn-lt"/>
              </a:rPr>
              <a:t> eu-west-1 \</a:t>
            </a:r>
            <a:endParaRPr lang="fr-FR" dirty="0">
              <a:ea typeface="Calibri"/>
              <a:cs typeface="Calibri"/>
            </a:endParaRPr>
          </a:p>
          <a:p>
            <a:pPr marL="200660" lvl="1" indent="0">
              <a:buNone/>
            </a:pPr>
            <a:r>
              <a:rPr lang="fr-FR" dirty="0">
                <a:ea typeface="+mn-lt"/>
                <a:cs typeface="+mn-lt"/>
              </a:rPr>
              <a:t>| docker login --</a:t>
            </a:r>
            <a:r>
              <a:rPr lang="fr-FR" dirty="0" err="1">
                <a:ea typeface="+mn-lt"/>
                <a:cs typeface="+mn-lt"/>
              </a:rPr>
              <a:t>username</a:t>
            </a:r>
            <a:r>
              <a:rPr lang="fr-FR" dirty="0">
                <a:ea typeface="+mn-lt"/>
                <a:cs typeface="+mn-lt"/>
              </a:rPr>
              <a:t> AWS --</a:t>
            </a:r>
            <a:r>
              <a:rPr lang="fr-FR" dirty="0" err="1">
                <a:ea typeface="+mn-lt"/>
                <a:cs typeface="+mn-lt"/>
              </a:rPr>
              <a:t>password-stdin</a:t>
            </a:r>
            <a:r>
              <a:rPr lang="fr-FR" dirty="0">
                <a:ea typeface="+mn-lt"/>
                <a:cs typeface="+mn-lt"/>
              </a:rPr>
              <a:t> &lt;ID_COMPTE&gt;.dkr.ecr.eu-west-1.amazonaws.com</a:t>
            </a:r>
            <a:endParaRPr lang="fr-FR" dirty="0"/>
          </a:p>
          <a:p>
            <a:pPr marL="383540" lvl="1"/>
            <a:r>
              <a:rPr lang="fr-FR" dirty="0">
                <a:ea typeface="+mn-lt"/>
                <a:cs typeface="+mn-lt"/>
              </a:rPr>
              <a:t>docker tag </a:t>
            </a:r>
            <a:r>
              <a:rPr lang="fr-FR" err="1">
                <a:ea typeface="+mn-lt"/>
                <a:cs typeface="+mn-lt"/>
              </a:rPr>
              <a:t>greenandcoop-app:latest</a:t>
            </a:r>
            <a:r>
              <a:rPr lang="fr-FR" dirty="0">
                <a:ea typeface="+mn-lt"/>
                <a:cs typeface="+mn-lt"/>
              </a:rPr>
              <a:t> 028597908642.dkr.ecr.eu-west-1.amazonaws.com/</a:t>
            </a:r>
            <a:r>
              <a:rPr lang="fr-FR" err="1">
                <a:ea typeface="+mn-lt"/>
                <a:cs typeface="+mn-lt"/>
              </a:rPr>
              <a:t>greenandcoop:latest</a:t>
            </a:r>
            <a:endParaRPr lang="fr-FR" err="1">
              <a:ea typeface="Calibri"/>
              <a:cs typeface="Calibri"/>
            </a:endParaRPr>
          </a:p>
          <a:p>
            <a:pPr marL="383540" lvl="1"/>
            <a:r>
              <a:rPr lang="fr-FR" dirty="0">
                <a:ea typeface="+mn-lt"/>
                <a:cs typeface="+mn-lt"/>
              </a:rPr>
              <a:t>docker push 028597908642.dkr.ecr.eu-west-1.amazonaws.com/</a:t>
            </a:r>
            <a:r>
              <a:rPr lang="fr-FR" dirty="0" err="1">
                <a:ea typeface="+mn-lt"/>
                <a:cs typeface="+mn-lt"/>
              </a:rPr>
              <a:t>greenandcoop:latest</a:t>
            </a:r>
            <a:endParaRPr lang="fr-FR" dirty="0" err="1">
              <a:ea typeface="Calibri" panose="020F0502020204030204"/>
              <a:cs typeface="Calibri" panose="020F0502020204030204"/>
            </a:endParaRPr>
          </a:p>
          <a:p>
            <a:pPr marL="200660" lvl="1" indent="0">
              <a:buNone/>
            </a:pPr>
            <a:endParaRPr lang="fr-FR" dirty="0">
              <a:ea typeface="Calibri"/>
              <a:cs typeface="Calibri"/>
            </a:endParaRPr>
          </a:p>
          <a:p>
            <a:endParaRPr lang="fr-FR" b="1" dirty="0">
              <a:ea typeface="Calibri"/>
              <a:cs typeface="Calibri"/>
            </a:endParaRPr>
          </a:p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9877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83BAE65-D215-4292-9498-D9610AC2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7DF155-DCD7-BC17-2F98-DBBF865C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914" y="647041"/>
            <a:ext cx="4077304" cy="1499137"/>
          </a:xfrm>
        </p:spPr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Migration MongoDB vers ECS</a:t>
            </a:r>
          </a:p>
        </p:txBody>
      </p:sp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D1178EB-9D66-4A26-8897-4E36BCF2F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1" y="1809955"/>
            <a:ext cx="6946086" cy="3023038"/>
          </a:xfrm>
          <a:prstGeom prst="rect">
            <a:avLst/>
          </a:prstGeom>
        </p:spPr>
      </p:pic>
      <p:cxnSp>
        <p:nvCxnSpPr>
          <p:cNvPr id="32" name="Straight Connector 12">
            <a:extLst>
              <a:ext uri="{FF2B5EF4-FFF2-40B4-BE49-F238E27FC236}">
                <a16:creationId xmlns:a16="http://schemas.microsoft.com/office/drawing/2014/main" id="{5C99ACED-3F9B-471D-97BC-E5D2D231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7">
            <a:extLst>
              <a:ext uri="{FF2B5EF4-FFF2-40B4-BE49-F238E27FC236}">
                <a16:creationId xmlns:a16="http://schemas.microsoft.com/office/drawing/2014/main" id="{776DB121-31A0-EDA1-87D2-72F18B669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914" y="2150534"/>
            <a:ext cx="4440161" cy="37185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Après </a:t>
            </a:r>
            <a:r>
              <a:rPr lang="en-US" sz="1600" dirty="0" err="1">
                <a:ea typeface="+mn-lt"/>
                <a:cs typeface="+mn-lt"/>
              </a:rPr>
              <a:t>avoir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conteneurisé</a:t>
            </a:r>
            <a:r>
              <a:rPr lang="en-US" sz="1600" dirty="0">
                <a:ea typeface="+mn-lt"/>
                <a:cs typeface="+mn-lt"/>
              </a:rPr>
              <a:t> MongoDB et </a:t>
            </a:r>
            <a:r>
              <a:rPr lang="en-US" sz="1600" dirty="0" err="1">
                <a:ea typeface="+mn-lt"/>
                <a:cs typeface="+mn-lt"/>
              </a:rPr>
              <a:t>stocké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l’image</a:t>
            </a:r>
            <a:r>
              <a:rPr lang="en-US" sz="1600" dirty="0">
                <a:ea typeface="+mn-lt"/>
                <a:cs typeface="+mn-lt"/>
              </a:rPr>
              <a:t> sur ECR, le </a:t>
            </a:r>
            <a:r>
              <a:rPr lang="en-US" sz="1600" dirty="0" err="1">
                <a:ea typeface="+mn-lt"/>
                <a:cs typeface="+mn-lt"/>
              </a:rPr>
              <a:t>conteneur</a:t>
            </a:r>
            <a:r>
              <a:rPr lang="en-US" sz="1600" dirty="0">
                <a:ea typeface="+mn-lt"/>
                <a:cs typeface="+mn-lt"/>
              </a:rPr>
              <a:t> est </a:t>
            </a:r>
            <a:r>
              <a:rPr lang="en-US" sz="1600" dirty="0" err="1">
                <a:ea typeface="+mn-lt"/>
                <a:cs typeface="+mn-lt"/>
              </a:rPr>
              <a:t>maintenant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actif</a:t>
            </a:r>
            <a:r>
              <a:rPr lang="en-US" sz="1600" dirty="0">
                <a:ea typeface="+mn-lt"/>
                <a:cs typeface="+mn-lt"/>
              </a:rPr>
              <a:t> sur ECS, </a:t>
            </a:r>
            <a:r>
              <a:rPr lang="en-US" sz="1600" dirty="0" err="1">
                <a:ea typeface="+mn-lt"/>
                <a:cs typeface="+mn-lt"/>
              </a:rPr>
              <a:t>garantissant</a:t>
            </a:r>
            <a:r>
              <a:rPr lang="en-US" sz="1600" dirty="0">
                <a:ea typeface="+mn-lt"/>
                <a:cs typeface="+mn-lt"/>
              </a:rPr>
              <a:t> un </a:t>
            </a:r>
            <a:r>
              <a:rPr lang="en-US" sz="1600" dirty="0" err="1">
                <a:ea typeface="+mn-lt"/>
                <a:cs typeface="+mn-lt"/>
              </a:rPr>
              <a:t>accès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fiable</a:t>
            </a:r>
            <a:r>
              <a:rPr lang="en-US" sz="1600" dirty="0">
                <a:ea typeface="+mn-lt"/>
                <a:cs typeface="+mn-lt"/>
              </a:rPr>
              <a:t> et </a:t>
            </a:r>
            <a:r>
              <a:rPr lang="en-US" sz="1600" dirty="0" err="1">
                <a:ea typeface="+mn-lt"/>
                <a:cs typeface="+mn-lt"/>
              </a:rPr>
              <a:t>rapide</a:t>
            </a:r>
            <a:r>
              <a:rPr lang="en-US" sz="1600" dirty="0">
                <a:ea typeface="+mn-lt"/>
                <a:cs typeface="+mn-lt"/>
              </a:rPr>
              <a:t> aux données. </a:t>
            </a:r>
            <a:endParaRPr lang="en-US" sz="1600" i="1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Points </a:t>
            </a:r>
            <a:r>
              <a:rPr lang="en-US" sz="1600" b="1" dirty="0" err="1">
                <a:ea typeface="+mn-lt"/>
                <a:cs typeface="+mn-lt"/>
              </a:rPr>
              <a:t>clés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en-US" sz="1600" b="1" dirty="0" err="1">
                <a:ea typeface="+mn-lt"/>
                <a:cs typeface="+mn-lt"/>
              </a:rPr>
              <a:t>liés</a:t>
            </a:r>
            <a:r>
              <a:rPr lang="en-US" sz="1600" b="1" dirty="0">
                <a:ea typeface="+mn-lt"/>
                <a:cs typeface="+mn-lt"/>
              </a:rPr>
              <a:t> à la capture </a:t>
            </a:r>
            <a:r>
              <a:rPr lang="en-US" sz="1600" b="1" dirty="0" err="1">
                <a:ea typeface="+mn-lt"/>
                <a:cs typeface="+mn-lt"/>
              </a:rPr>
              <a:t>d’écran</a:t>
            </a:r>
            <a:r>
              <a:rPr lang="en-US" sz="1600" b="1" dirty="0">
                <a:ea typeface="+mn-lt"/>
                <a:cs typeface="+mn-lt"/>
              </a:rPr>
              <a:t> :</a:t>
            </a:r>
            <a:endParaRPr lang="en-US" sz="1600" dirty="0">
              <a:ea typeface="+mn-lt"/>
              <a:cs typeface="+mn-lt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en-US" sz="1400" b="1" dirty="0">
                <a:ea typeface="+mn-lt"/>
                <a:cs typeface="+mn-lt"/>
              </a:rPr>
              <a:t> Cluster </a:t>
            </a:r>
            <a:r>
              <a:rPr lang="en-US" sz="1400" b="1" dirty="0" err="1">
                <a:ea typeface="+mn-lt"/>
                <a:cs typeface="+mn-lt"/>
              </a:rPr>
              <a:t>GreenAndCoop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actif</a:t>
            </a:r>
            <a:r>
              <a:rPr lang="en-US" sz="1400" dirty="0">
                <a:ea typeface="+mn-lt"/>
                <a:cs typeface="+mn-lt"/>
              </a:rPr>
              <a:t> – </a:t>
            </a:r>
            <a:r>
              <a:rPr lang="en-US" sz="1400" dirty="0" err="1">
                <a:ea typeface="+mn-lt"/>
                <a:cs typeface="+mn-lt"/>
              </a:rPr>
              <a:t>Statut</a:t>
            </a:r>
            <a:r>
              <a:rPr lang="en-US" sz="1400" dirty="0">
                <a:ea typeface="+mn-lt"/>
                <a:cs typeface="+mn-lt"/>
              </a:rPr>
              <a:t> “Running” visible dans ECS</a:t>
            </a: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en-US" sz="1400" b="1" dirty="0">
                <a:ea typeface="+mn-lt"/>
                <a:cs typeface="+mn-lt"/>
              </a:rPr>
              <a:t> Task Fargate </a:t>
            </a:r>
            <a:r>
              <a:rPr lang="en-US" sz="1400" b="1" dirty="0" err="1">
                <a:ea typeface="+mn-lt"/>
                <a:cs typeface="+mn-lt"/>
              </a:rPr>
              <a:t>en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cours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d’exécution</a:t>
            </a:r>
            <a:r>
              <a:rPr lang="en-US" sz="1400" dirty="0">
                <a:ea typeface="+mn-lt"/>
                <a:cs typeface="+mn-lt"/>
              </a:rPr>
              <a:t> – </a:t>
            </a:r>
            <a:r>
              <a:rPr lang="en-US" sz="1400" dirty="0" err="1">
                <a:ea typeface="+mn-lt"/>
                <a:cs typeface="+mn-lt"/>
              </a:rPr>
              <a:t>Montrant</a:t>
            </a:r>
            <a:r>
              <a:rPr lang="en-US" sz="1400" dirty="0">
                <a:ea typeface="+mn-lt"/>
                <a:cs typeface="+mn-lt"/>
              </a:rPr>
              <a:t> le    </a:t>
            </a:r>
            <a:r>
              <a:rPr lang="en-US" sz="1400" dirty="0" err="1">
                <a:ea typeface="+mn-lt"/>
                <a:cs typeface="+mn-lt"/>
              </a:rPr>
              <a:t>conteneur</a:t>
            </a:r>
            <a:r>
              <a:rPr lang="en-US" sz="1400" dirty="0">
                <a:ea typeface="+mn-lt"/>
                <a:cs typeface="+mn-lt"/>
              </a:rPr>
              <a:t> MongoDB prêt à </a:t>
            </a:r>
            <a:r>
              <a:rPr lang="en-US" sz="1400" dirty="0" err="1">
                <a:ea typeface="+mn-lt"/>
                <a:cs typeface="+mn-lt"/>
              </a:rPr>
              <a:t>servir</a:t>
            </a:r>
            <a:endParaRPr lang="en-US" dirty="0">
              <a:ea typeface="Calibri"/>
              <a:cs typeface="Calibri"/>
            </a:endParaRPr>
          </a:p>
          <a:p>
            <a:pPr indent="-91440"/>
            <a:endParaRPr lang="en-US" sz="1600" b="1" dirty="0">
              <a:ea typeface="+mn-lt"/>
              <a:cs typeface="+mn-lt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C05757-249C-4F2B-B326-B940FDD9C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922679-5189-4C5C-9FBB-6839F89C6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7002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6CB58-6E03-DEB2-F14D-7223A79F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B18F7F-C81D-DBE9-5836-B5929FF3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Logigramme du processus</a:t>
            </a:r>
          </a:p>
        </p:txBody>
      </p:sp>
      <p:pic>
        <p:nvPicPr>
          <p:cNvPr id="4" name="Image 3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BA979ED-35A2-8F70-7187-D290A7D4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5" r="6599" b="8680"/>
          <a:stretch>
            <a:fillRect/>
          </a:stretch>
        </p:blipFill>
        <p:spPr>
          <a:xfrm>
            <a:off x="21" y="2249"/>
            <a:ext cx="4633890" cy="685738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0CBE0651-97C4-BFCD-633E-20006A3964B3}"/>
              </a:ext>
            </a:extLst>
          </p:cNvPr>
          <p:cNvSpPr txBox="1"/>
          <p:nvPr/>
        </p:nvSpPr>
        <p:spPr>
          <a:xfrm>
            <a:off x="5181601" y="2147253"/>
            <a:ext cx="6368142" cy="431594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lIns="0" tIns="45720" rIns="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logigramme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illustre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clairement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comment les données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météo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sont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collectées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transformées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et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stockées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tout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en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intégrant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la gestion des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erreurs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et des flux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alternatifs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  <a:endParaRPr lang="fr-FR" i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Points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clés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buFont typeface="Courier New"/>
              <a:buChar char="o"/>
            </a:pP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Chaque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étape du pipeline, de la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récupération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des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fichiers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météo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au stockage dans MongoDB, est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représentée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buFont typeface="Courier New"/>
              <a:buChar char="o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contrôles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à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chaque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étape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garantissent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la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qualité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et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l’intégrité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des données.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buFont typeface="Courier New"/>
              <a:buChar char="o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cas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d’erreurs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ou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exceptions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gérés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via des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décisions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visibles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dans le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logigramme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Courier New"/>
              <a:buChar char="o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Les flux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alternatifs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et branches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conditionnelles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justifiés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pour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couvrir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tous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les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scénarios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possibles.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buFont typeface="Courier New"/>
              <a:buChar char="o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Cette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visualisation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facilite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la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compréhension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et la maintenance du pipeline.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i="1" dirty="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52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05A42EF-68E6-4808-81CD-E5ABD0E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BA2DDA-B75B-8CF4-4206-72AC5B4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Schéma court de la base de données (MongoDB)</a:t>
            </a:r>
          </a:p>
        </p:txBody>
      </p:sp>
      <p:pic>
        <p:nvPicPr>
          <p:cNvPr id="7" name="Espace réservé du contenu 6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ED2D4BC9-C16A-E44E-B238-84E19C487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003" y="1364833"/>
            <a:ext cx="5923340" cy="4026006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4A154E-1950-4755-A5FC-5998EE0CC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4CDE01AE-1CFC-639C-4480-E84C38F9FDB2}"/>
              </a:ext>
            </a:extLst>
          </p:cNvPr>
          <p:cNvSpPr txBox="1"/>
          <p:nvPr/>
        </p:nvSpPr>
        <p:spPr>
          <a:xfrm>
            <a:off x="6411684" y="2198914"/>
            <a:ext cx="5127172" cy="3670180"/>
          </a:xfrm>
          <a:prstGeom prst="rect">
            <a:avLst/>
          </a:prstGeom>
        </p:spPr>
        <p:txBody>
          <a:bodyPr rot="0" spcFirstLastPara="0" vertOverflow="overflow" horzOverflow="overflow" vert="horz" lIns="0" tIns="45720" rIns="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Pour terminer,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voici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schéma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base MongoDB,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pensé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pour stocker des données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météo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hétérogènes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tout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restant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simple, flexible et exploitable.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E9C285-56FB-4B36-8ECA-C2D6596AA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7C076B-00B1-4629-B27F-A86F9885F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6580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5A42EF-68E6-4808-81CD-E5ABD0E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4BD893-9960-6BD1-4792-3FEA6C1B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(Monitoring ECS / MongoDB)</a:t>
            </a:r>
            <a:endParaRPr lang="fr-FR" dirty="0"/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8693DC8-3EA4-F9BE-C432-3980DD43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7" y="2081893"/>
            <a:ext cx="5741912" cy="22774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4A154E-1950-4755-A5FC-5998EE0CC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4D1A7-5CB8-8875-A1D4-D0F2B13CC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fr-FR" sz="1700" i="1" dirty="0">
                <a:ea typeface="+mn-lt"/>
                <a:cs typeface="+mn-lt"/>
              </a:rPr>
              <a:t>Le cluster </a:t>
            </a:r>
            <a:r>
              <a:rPr lang="fr-FR" sz="1700" i="1" dirty="0" err="1">
                <a:ea typeface="+mn-lt"/>
                <a:cs typeface="+mn-lt"/>
              </a:rPr>
              <a:t>GreenAndCoop</a:t>
            </a:r>
            <a:r>
              <a:rPr lang="fr-FR" sz="1700" i="1" dirty="0">
                <a:ea typeface="+mn-lt"/>
                <a:cs typeface="+mn-lt"/>
              </a:rPr>
              <a:t> est surveillé en continu pour garantir la disponibilité et la performance des conteneurs MongoDB et de l’application.</a:t>
            </a:r>
            <a:endParaRPr lang="fr-FR" i="1" dirty="0">
              <a:ea typeface="+mn-lt"/>
              <a:cs typeface="+mn-lt"/>
            </a:endParaRPr>
          </a:p>
          <a:p>
            <a:r>
              <a:rPr lang="fr-FR" sz="1700" b="1" dirty="0">
                <a:ea typeface="+mn-lt"/>
                <a:cs typeface="+mn-lt"/>
              </a:rPr>
              <a:t>Points clés :</a:t>
            </a:r>
            <a:endParaRPr lang="fr-FR" sz="1500" dirty="0" err="1">
              <a:ea typeface="+mn-lt"/>
              <a:cs typeface="+mn-lt"/>
            </a:endParaRPr>
          </a:p>
          <a:p>
            <a:pPr marL="383540" lvl="1"/>
            <a:r>
              <a:rPr lang="fr-FR" sz="1300" dirty="0">
                <a:ea typeface="+mn-lt"/>
                <a:cs typeface="+mn-lt"/>
              </a:rPr>
              <a:t>Nombre total de tâches en </a:t>
            </a:r>
            <a:r>
              <a:rPr lang="fr-FR" sz="1300" b="1" dirty="0">
                <a:ea typeface="+mn-lt"/>
                <a:cs typeface="+mn-lt"/>
              </a:rPr>
              <a:t>running</a:t>
            </a:r>
            <a:r>
              <a:rPr lang="fr-FR" sz="1300" dirty="0">
                <a:ea typeface="+mn-lt"/>
                <a:cs typeface="+mn-lt"/>
              </a:rPr>
              <a:t> et en </a:t>
            </a:r>
            <a:r>
              <a:rPr lang="fr-FR" sz="1300" b="1" dirty="0" err="1">
                <a:ea typeface="+mn-lt"/>
                <a:cs typeface="+mn-lt"/>
              </a:rPr>
              <a:t>pending</a:t>
            </a:r>
            <a:endParaRPr lang="fr-FR" dirty="0" err="1">
              <a:ea typeface="+mn-lt"/>
              <a:cs typeface="+mn-lt"/>
            </a:endParaRPr>
          </a:p>
          <a:p>
            <a:pPr marL="383540" lvl="1"/>
            <a:r>
              <a:rPr lang="fr-FR" sz="1500" b="1" dirty="0">
                <a:ea typeface="+mn-lt"/>
                <a:cs typeface="+mn-lt"/>
              </a:rPr>
              <a:t>Utilisation CPU</a:t>
            </a:r>
            <a:r>
              <a:rPr lang="fr-FR" sz="1500" dirty="0">
                <a:ea typeface="+mn-lt"/>
                <a:cs typeface="+mn-lt"/>
              </a:rPr>
              <a:t> par le cluster et les tâches</a:t>
            </a:r>
            <a:endParaRPr lang="fr-FR" dirty="0">
              <a:ea typeface="Calibri"/>
              <a:cs typeface="Calibri"/>
            </a:endParaRPr>
          </a:p>
          <a:p>
            <a:pPr marL="383540" lvl="1"/>
            <a:r>
              <a:rPr lang="fr-FR" sz="1500" b="1" dirty="0">
                <a:ea typeface="+mn-lt"/>
                <a:cs typeface="+mn-lt"/>
              </a:rPr>
              <a:t>Utilisation mémoire</a:t>
            </a:r>
            <a:r>
              <a:rPr lang="fr-FR" sz="1500" dirty="0">
                <a:ea typeface="+mn-lt"/>
                <a:cs typeface="+mn-lt"/>
              </a:rPr>
              <a:t> maximale par tâche</a:t>
            </a:r>
            <a:endParaRPr lang="fr-FR" dirty="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fr-FR" sz="1500" dirty="0">
                <a:ea typeface="+mn-lt"/>
                <a:cs typeface="+mn-lt"/>
              </a:rPr>
              <a:t>Visualisation du </a:t>
            </a:r>
            <a:r>
              <a:rPr lang="fr-FR" sz="1500" b="1" dirty="0">
                <a:ea typeface="+mn-lt"/>
                <a:cs typeface="+mn-lt"/>
              </a:rPr>
              <a:t>statut des tâches</a:t>
            </a:r>
            <a:r>
              <a:rPr lang="fr-FR" sz="1500" dirty="0">
                <a:ea typeface="+mn-lt"/>
                <a:cs typeface="+mn-lt"/>
              </a:rPr>
              <a:t> et des services</a:t>
            </a:r>
            <a:endParaRPr lang="fr-FR" dirty="0">
              <a:ea typeface="+mn-lt"/>
              <a:cs typeface="+mn-lt"/>
            </a:endParaRPr>
          </a:p>
          <a:p>
            <a:pPr marL="200660" lvl="1" indent="0">
              <a:buNone/>
            </a:pPr>
            <a:endParaRPr lang="fr-FR" sz="1500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C285-56FB-4B36-8ECA-C2D6596AA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7C076B-00B1-4629-B27F-A86F9885F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1140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5AE199-F05E-4D8F-A9EE-A6D74FCF0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BF1884-0671-4DDE-AFF3-221AEF7FE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F5C609-FA2A-A1E1-F204-84D27CF5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69" y="516835"/>
            <a:ext cx="5977937" cy="1666501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FFFF"/>
                </a:solidFill>
                <a:ea typeface="+mj-lt"/>
                <a:cs typeface="+mj-lt"/>
              </a:rPr>
              <a:t>Logs et suivi des opérations MongoDB</a:t>
            </a:r>
            <a:endParaRPr lang="fr-FR" sz="3200" b="1" dirty="0">
              <a:ea typeface="+mj-lt"/>
              <a:cs typeface="+mj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C54162-4EA8-1C08-A4FB-AFD181D94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68" y="2178795"/>
            <a:ext cx="6452389" cy="3710176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fr-FR" sz="1800" dirty="0">
                <a:solidFill>
                  <a:srgbClr val="FFFFFF"/>
                </a:solidFill>
                <a:ea typeface="+mn-lt"/>
                <a:cs typeface="+mn-lt"/>
              </a:rPr>
              <a:t>Phrase d’accroche courte : </a:t>
            </a:r>
            <a:r>
              <a:rPr lang="fr-FR" sz="1800" i="1" dirty="0">
                <a:solidFill>
                  <a:srgbClr val="FFFFFF"/>
                </a:solidFill>
                <a:ea typeface="+mn-lt"/>
                <a:cs typeface="+mn-lt"/>
              </a:rPr>
              <a:t>“Suivi de l’activité et performances de MongoDB en temps réel pour garantir la disponibilité et la qualité des données.”</a:t>
            </a:r>
          </a:p>
          <a:p>
            <a:r>
              <a:rPr lang="fr-FR" sz="1800" dirty="0">
                <a:solidFill>
                  <a:srgbClr val="FFFFFF"/>
                </a:solidFill>
                <a:ea typeface="+mn-lt"/>
                <a:cs typeface="+mn-lt"/>
              </a:rPr>
              <a:t>Points clés :</a:t>
            </a:r>
            <a:endParaRPr lang="fr-FR" sz="1800" i="1" dirty="0">
              <a:solidFill>
                <a:srgbClr val="FFFFFF"/>
              </a:solidFill>
              <a:ea typeface="+mn-lt"/>
              <a:cs typeface="+mn-lt"/>
            </a:endParaRPr>
          </a:p>
          <a:p>
            <a:pPr marL="675640" lvl="1">
              <a:buFont typeface="Courier New" panose="020F0502020204030204" pitchFamily="34" charset="0"/>
              <a:buChar char="o"/>
            </a:pPr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Surveillance en temps réel avec </a:t>
            </a:r>
            <a:r>
              <a:rPr lang="fr-FR" b="1" err="1">
                <a:solidFill>
                  <a:srgbClr val="FFFFFF"/>
                </a:solidFill>
                <a:ea typeface="+mn-lt"/>
                <a:cs typeface="+mn-lt"/>
              </a:rPr>
              <a:t>mongotop</a:t>
            </a:r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 : activité par </a:t>
            </a:r>
            <a:r>
              <a:rPr lang="fr-FR">
                <a:solidFill>
                  <a:srgbClr val="FFFFFF"/>
                </a:solidFill>
                <a:ea typeface="+mn-lt"/>
                <a:cs typeface="+mn-lt"/>
              </a:rPr>
              <a:t>collection, lecture/écriture.</a:t>
            </a:r>
            <a:endParaRPr lang="fr-FR">
              <a:solidFill>
                <a:srgbClr val="404040"/>
              </a:solidFill>
              <a:ea typeface="+mn-lt"/>
              <a:cs typeface="+mn-lt"/>
            </a:endParaRPr>
          </a:p>
          <a:p>
            <a:pPr marL="675640" lvl="1">
              <a:buFont typeface="Courier New" panose="020F0502020204030204" pitchFamily="34" charset="0"/>
              <a:buChar char="o"/>
            </a:pPr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Mesure des performances globales avec </a:t>
            </a:r>
            <a:r>
              <a:rPr lang="fr-FR" b="1" dirty="0" err="1">
                <a:solidFill>
                  <a:srgbClr val="FFFFFF"/>
                </a:solidFill>
                <a:ea typeface="+mn-lt"/>
                <a:cs typeface="+mn-lt"/>
              </a:rPr>
              <a:t>mongostat</a:t>
            </a:r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 : requêtes, opérations, mémoire, connections.</a:t>
            </a:r>
            <a:endParaRPr lang="fr-FR" dirty="0">
              <a:solidFill>
                <a:srgbClr val="404040"/>
              </a:solidFill>
              <a:ea typeface="+mn-lt"/>
              <a:cs typeface="+mn-lt"/>
            </a:endParaRPr>
          </a:p>
          <a:p>
            <a:pPr marL="675640" lvl="1">
              <a:buFont typeface="Courier New" panose="020F0502020204030204" pitchFamily="34" charset="0"/>
              <a:buChar char="o"/>
            </a:pPr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Validation du pipeline via script Python : import, requêtes, temps d’accès aux données.</a:t>
            </a:r>
            <a:endParaRPr lang="fr-FR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endParaRPr lang="fr-FR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fr-FR" sz="1800" i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7E2B88-7436-4EE0-81B8-73DAC6E99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Image 3" descr="Une image contenant texte, capture d’écran, Police, noir et blanc&#10;&#10;Le contenu généré par l’IA peut être incorrect.">
            <a:extLst>
              <a:ext uri="{FF2B5EF4-FFF2-40B4-BE49-F238E27FC236}">
                <a16:creationId xmlns:a16="http://schemas.microsoft.com/office/drawing/2014/main" id="{B8FA0437-9325-71FA-1207-C8360D06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341" y="621907"/>
            <a:ext cx="4516435" cy="108682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BD78DE-2354-45E0-AAA8-CBBC18162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236191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texte, Police, capture d’écran, noir&#10;&#10;Le contenu généré par l’IA peut être incorrect.">
            <a:extLst>
              <a:ext uri="{FF2B5EF4-FFF2-40B4-BE49-F238E27FC236}">
                <a16:creationId xmlns:a16="http://schemas.microsoft.com/office/drawing/2014/main" id="{701F2128-6F6C-CF7D-3FAD-9068126D2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340" y="3097825"/>
            <a:ext cx="4443866" cy="65025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3635534-A48C-4194-B454-E2ED2AFAE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4432072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86013E2-7EFB-FCD1-BFED-CC2CC2663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913" y="4846796"/>
            <a:ext cx="4322912" cy="170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24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6FD191-50A2-99A6-6726-3B28875D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ea typeface="+mj-lt"/>
                <a:cs typeface="+mj-lt"/>
              </a:rPr>
              <a:t>Contrôle de conformité des documents MongoDB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B072A7-A27A-9097-466F-F1AE3F9AD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fr-FR" i="1" dirty="0">
                <a:ea typeface="+mn-lt"/>
                <a:cs typeface="+mn-lt"/>
              </a:rPr>
              <a:t>Le contrôle de conformité montre que les documents importés respectent globalement le schéma attendu :</a:t>
            </a:r>
            <a:endParaRPr lang="fr-FR" i="1">
              <a:ea typeface="Calibri"/>
              <a:cs typeface="Calibri"/>
            </a:endParaRPr>
          </a:p>
          <a:p>
            <a:r>
              <a:rPr lang="fr-FR" sz="1800" dirty="0">
                <a:ea typeface="+mn-lt"/>
                <a:cs typeface="+mn-lt"/>
              </a:rPr>
              <a:t>Documents totaux : 3808</a:t>
            </a:r>
            <a:endParaRPr lang="fr-FR" sz="1800" dirty="0">
              <a:ea typeface="Calibri"/>
              <a:cs typeface="Calibri"/>
            </a:endParaRPr>
          </a:p>
          <a:p>
            <a:r>
              <a:rPr lang="fr-FR" sz="1800" dirty="0">
                <a:ea typeface="+mn-lt"/>
                <a:cs typeface="+mn-lt"/>
              </a:rPr>
              <a:t>Documents non conformes : 66</a:t>
            </a:r>
            <a:endParaRPr lang="fr-FR" sz="1800">
              <a:ea typeface="Calibri"/>
              <a:cs typeface="Calibri"/>
            </a:endParaRPr>
          </a:p>
          <a:p>
            <a:r>
              <a:rPr lang="fr-FR" sz="1800" dirty="0">
                <a:ea typeface="+mn-lt"/>
                <a:cs typeface="+mn-lt"/>
              </a:rPr>
              <a:t>Taux de conformité : 98,27 %</a:t>
            </a:r>
            <a:endParaRPr lang="fr-FR" sz="1800" dirty="0"/>
          </a:p>
          <a:p>
            <a:endParaRPr lang="fr-FR" dirty="0">
              <a:ea typeface="Calibri"/>
              <a:cs typeface="Calibri"/>
            </a:endParaRPr>
          </a:p>
        </p:txBody>
      </p:sp>
      <p:pic>
        <p:nvPicPr>
          <p:cNvPr id="4" name="Image 3" descr="Une image contenant texte, Police, capture d’écran, noir&#10;&#10;Le contenu généré par l’IA peut être incorrect.">
            <a:extLst>
              <a:ext uri="{FF2B5EF4-FFF2-40B4-BE49-F238E27FC236}">
                <a16:creationId xmlns:a16="http://schemas.microsoft.com/office/drawing/2014/main" id="{82953FB4-A031-C060-2B53-7056DF04D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4245052"/>
            <a:ext cx="46101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02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2DB2E2-7DD1-D443-6181-0BC5BB136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fr-FR">
                <a:ea typeface="+mj-lt"/>
                <a:cs typeface="+mj-lt"/>
              </a:rPr>
              <a:t>Conclusion</a:t>
            </a:r>
            <a:endParaRPr lang="fr-FR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3340CF-1927-E08B-4D00-48023A89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endParaRPr lang="fr-FR" sz="1700">
              <a:ea typeface="+mn-lt"/>
              <a:cs typeface="+mn-lt"/>
            </a:endParaRPr>
          </a:p>
          <a:p>
            <a:r>
              <a:rPr lang="fr-FR" sz="1700">
                <a:ea typeface="+mn-lt"/>
                <a:cs typeface="+mn-lt"/>
              </a:rPr>
              <a:t>Ce projet a permis de mettre en place un </a:t>
            </a:r>
            <a:r>
              <a:rPr lang="fr-FR" sz="1700" b="1">
                <a:ea typeface="+mn-lt"/>
                <a:cs typeface="+mn-lt"/>
              </a:rPr>
              <a:t>pipeline complet de données météo</a:t>
            </a:r>
            <a:r>
              <a:rPr lang="fr-FR" sz="1700">
                <a:ea typeface="+mn-lt"/>
                <a:cs typeface="+mn-lt"/>
              </a:rPr>
              <a:t>, allant de la collecte avec </a:t>
            </a:r>
            <a:r>
              <a:rPr lang="fr-FR" sz="1700" err="1">
                <a:ea typeface="+mn-lt"/>
                <a:cs typeface="+mn-lt"/>
              </a:rPr>
              <a:t>Airbyte</a:t>
            </a:r>
            <a:r>
              <a:rPr lang="fr-FR" sz="1700">
                <a:ea typeface="+mn-lt"/>
                <a:cs typeface="+mn-lt"/>
              </a:rPr>
              <a:t> jusqu’au déploiement de MongoDB sur AWS ECS. Les données hétérogènes ont été </a:t>
            </a:r>
            <a:r>
              <a:rPr lang="fr-FR" sz="1700" b="1">
                <a:ea typeface="+mn-lt"/>
                <a:cs typeface="+mn-lt"/>
              </a:rPr>
              <a:t>nettoyées, harmonisées et testées</a:t>
            </a:r>
            <a:r>
              <a:rPr lang="fr-FR" sz="1700">
                <a:ea typeface="+mn-lt"/>
                <a:cs typeface="+mn-lt"/>
              </a:rPr>
              <a:t>, garantissant ainsi leur qualité et leur accessibilité.</a:t>
            </a:r>
          </a:p>
          <a:p>
            <a:r>
              <a:rPr lang="fr-FR" sz="1700" b="1">
                <a:ea typeface="+mn-lt"/>
                <a:cs typeface="+mn-lt"/>
              </a:rPr>
              <a:t>Points clés :</a:t>
            </a:r>
            <a:endParaRPr lang="fr-FR" sz="1700"/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fr-FR" sz="1700">
                <a:ea typeface="+mn-lt"/>
                <a:cs typeface="+mn-lt"/>
              </a:rPr>
              <a:t> Pipeline </a:t>
            </a:r>
            <a:r>
              <a:rPr lang="fr-FR" sz="1700" b="1">
                <a:ea typeface="+mn-lt"/>
                <a:cs typeface="+mn-lt"/>
              </a:rPr>
              <a:t>fiable et automatisé</a:t>
            </a:r>
            <a:r>
              <a:rPr lang="fr-FR" sz="1700">
                <a:ea typeface="+mn-lt"/>
                <a:cs typeface="+mn-lt"/>
              </a:rPr>
              <a:t> pour toutes les étapes de la donnée</a:t>
            </a:r>
            <a:endParaRPr lang="fr-FR" sz="170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fr-FR" sz="1700" b="1">
                <a:ea typeface="+mn-lt"/>
                <a:cs typeface="+mn-lt"/>
              </a:rPr>
              <a:t> Temps d’accès rapides</a:t>
            </a:r>
            <a:r>
              <a:rPr lang="fr-FR" sz="1700">
                <a:ea typeface="+mn-lt"/>
                <a:cs typeface="+mn-lt"/>
              </a:rPr>
              <a:t>, garantissant une exploitation immédiate par les équipes Data</a:t>
            </a: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fr-FR" sz="1700">
                <a:ea typeface="+mn-lt"/>
                <a:cs typeface="+mn-lt"/>
              </a:rPr>
              <a:t> Solution </a:t>
            </a:r>
            <a:r>
              <a:rPr lang="fr-FR" sz="1700" b="1">
                <a:ea typeface="+mn-lt"/>
                <a:cs typeface="+mn-lt"/>
              </a:rPr>
              <a:t>scalable et prête à évoluer</a:t>
            </a:r>
            <a:r>
              <a:rPr lang="fr-FR" sz="1700">
                <a:ea typeface="+mn-lt"/>
                <a:cs typeface="+mn-lt"/>
              </a:rPr>
              <a:t>, avec possibilité d’ajouter de nouvelles stations ou usages métier</a:t>
            </a:r>
          </a:p>
          <a:p>
            <a:endParaRPr lang="fr-FR" sz="1700">
              <a:ea typeface="+mn-lt"/>
              <a:cs typeface="+mn-lt"/>
            </a:endParaRPr>
          </a:p>
          <a:p>
            <a:endParaRPr lang="fr-FR" sz="1700">
              <a:ea typeface="Calibri"/>
              <a:cs typeface="Calibri"/>
            </a:endParaRPr>
          </a:p>
          <a:p>
            <a:endParaRPr lang="fr-FR" sz="1700">
              <a:ea typeface="Calibri"/>
              <a:cs typeface="Calibri"/>
            </a:endParaRPr>
          </a:p>
        </p:txBody>
      </p:sp>
      <p:pic>
        <p:nvPicPr>
          <p:cNvPr id="7" name="Image 6" descr="Une image contenant illustration, clipart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63006697-6F56-EEAB-10A8-847ECFF4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1" r="28920" b="2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2152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Retrospect</vt:lpstr>
      <vt:lpstr>Forecast 2.0 – Construction et test d’une infrastructure de données météo   </vt:lpstr>
      <vt:lpstr>Problématique &amp; objectifs métier</vt:lpstr>
      <vt:lpstr>Sources de données</vt:lpstr>
      <vt:lpstr>Architecture globale (AWS)</vt:lpstr>
      <vt:lpstr>Collecte avec Airbyte</vt:lpstr>
      <vt:lpstr>Transformation des données</vt:lpstr>
      <vt:lpstr>Reporting – Temps d’accès</vt:lpstr>
      <vt:lpstr>Tests d’intégrité &amp; qualité (processus)</vt:lpstr>
      <vt:lpstr>Résultats qualité des données</vt:lpstr>
      <vt:lpstr>Conteneurisation avec Docker</vt:lpstr>
      <vt:lpstr>Publication de l’image Docker sur AWS ECR</vt:lpstr>
      <vt:lpstr>Migration MongoDB vers ECS</vt:lpstr>
      <vt:lpstr>Logigramme du processus</vt:lpstr>
      <vt:lpstr>Schéma court de la base de données (MongoDB)</vt:lpstr>
      <vt:lpstr>(Monitoring ECS / MongoDB)</vt:lpstr>
      <vt:lpstr>Logs et suivi des opérations MongoDB</vt:lpstr>
      <vt:lpstr>Contrôle de conformité des documents MongoDB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642</cp:revision>
  <dcterms:created xsi:type="dcterms:W3CDTF">2026-01-30T12:50:51Z</dcterms:created>
  <dcterms:modified xsi:type="dcterms:W3CDTF">2026-02-06T19:54:42Z</dcterms:modified>
</cp:coreProperties>
</file>